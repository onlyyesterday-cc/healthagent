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1711bf19d34964" /><Relationship Type="http://schemas.openxmlformats.org/officeDocument/2006/relationships/extended-properties" Target="/docProps/app.xml" Id="Rc83b632da63b486c" /><Relationship Type="http://schemas.openxmlformats.org/officeDocument/2006/relationships/officeDocument" Target="/ppt/presentation.xml" Id="Ra546dff0c4b1445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995ac76f26845f5"/>
  </p:sldMasterIdLst>
  <p:notesMasterIdLst>
    <p:notesMasterId xmlns:r="http://schemas.openxmlformats.org/officeDocument/2006/relationships" r:id="R61478317885640dd"/>
  </p:notesMasterIdLst>
  <p:sldIdLst>
    <p:sldId xmlns:r="http://schemas.openxmlformats.org/officeDocument/2006/relationships" id="256" r:id="R5a7f83c108ec4233"/>
    <p:sldId xmlns:r="http://schemas.openxmlformats.org/officeDocument/2006/relationships" id="257" r:id="R5b35be66424a402d"/>
    <p:sldId xmlns:r="http://schemas.openxmlformats.org/officeDocument/2006/relationships" id="258" r:id="Rad9f193099c54d72"/>
    <p:sldId xmlns:r="http://schemas.openxmlformats.org/officeDocument/2006/relationships" id="259" r:id="R0b05a210f8834425"/>
    <p:sldId xmlns:r="http://schemas.openxmlformats.org/officeDocument/2006/relationships" id="260" r:id="R2e499ca464ca44e3"/>
    <p:sldId xmlns:r="http://schemas.openxmlformats.org/officeDocument/2006/relationships" id="261" r:id="Rf10626baefc54f29"/>
    <p:sldId xmlns:r="http://schemas.openxmlformats.org/officeDocument/2006/relationships" id="262" r:id="Rfef2f0ba6bfe4d7c"/>
    <p:sldId xmlns:r="http://schemas.openxmlformats.org/officeDocument/2006/relationships" id="263" r:id="R2de1d6fee85547b0"/>
    <p:sldId xmlns:r="http://schemas.openxmlformats.org/officeDocument/2006/relationships" id="264" r:id="Ra260ee703069490d"/>
    <p:sldId xmlns:r="http://schemas.openxmlformats.org/officeDocument/2006/relationships" id="265" r:id="R9eed0844566f4d68"/>
  </p:sldIdLst>
  <p:sldSz cx="12192000" cy="6858000"/>
  <p:notesSz cx="6858000" cy="9144000"/>
  <p:embeddedFontLst>
    <p:embeddedFont>
      <p:font typeface="华文隶书"/>
      <p:regular xmlns:r="http://schemas.openxmlformats.org/officeDocument/2006/relationships" r:id="R70796b757ed64b88"/>
    </p:embeddedFont>
    <p:embeddedFont>
      <p:font typeface="MiSans"/>
      <p:regular xmlns:r="http://schemas.openxmlformats.org/officeDocument/2006/relationships" r:id="R3e4e4cc502524c9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482a45084b462e" /><Relationship Type="http://schemas.openxmlformats.org/officeDocument/2006/relationships/slideMaster" Target="/ppt/slideMasters/slideMaster1.xml" Id="Rf995ac76f26845f5" /><Relationship Type="http://schemas.openxmlformats.org/officeDocument/2006/relationships/notesMaster" Target="/ppt/notesMasters/notesMaster1.xml" Id="R61478317885640dd" /><Relationship Type="http://schemas.openxmlformats.org/officeDocument/2006/relationships/presProps" Target="/ppt/presProps.xml" Id="Raa617573c38942a0" /><Relationship Type="http://schemas.openxmlformats.org/officeDocument/2006/relationships/viewProps" Target="/ppt/viewProps.xml" Id="R397650591f7148d5" /><Relationship Type="http://schemas.openxmlformats.org/officeDocument/2006/relationships/tableStyles" Target="/ppt/tableStyles.xml" Id="Ref519c3af533467c" /><Relationship Type="http://schemas.openxmlformats.org/officeDocument/2006/relationships/font" Target="/ppt/fonts/font.dat" Id="R70796b757ed64b88" /><Relationship Type="http://schemas.openxmlformats.org/officeDocument/2006/relationships/font" Target="/ppt/fonts/font2.dat" Id="R3e4e4cc502524c90" /><Relationship Type="http://schemas.openxmlformats.org/officeDocument/2006/relationships/slide" Target="/ppt/slides/slide1.xml" Id="R5a7f83c108ec4233" /><Relationship Type="http://schemas.openxmlformats.org/officeDocument/2006/relationships/slide" Target="/ppt/slides/slide2.xml" Id="R5b35be66424a402d" /><Relationship Type="http://schemas.openxmlformats.org/officeDocument/2006/relationships/slide" Target="/ppt/slides/slide3.xml" Id="Rad9f193099c54d72" /><Relationship Type="http://schemas.openxmlformats.org/officeDocument/2006/relationships/slide" Target="/ppt/slides/slide4.xml" Id="R0b05a210f8834425" /><Relationship Type="http://schemas.openxmlformats.org/officeDocument/2006/relationships/slide" Target="/ppt/slides/slide5.xml" Id="R2e499ca464ca44e3" /><Relationship Type="http://schemas.openxmlformats.org/officeDocument/2006/relationships/slide" Target="/ppt/slides/slide6.xml" Id="Rf10626baefc54f29" /><Relationship Type="http://schemas.openxmlformats.org/officeDocument/2006/relationships/slide" Target="/ppt/slides/slide7.xml" Id="Rfef2f0ba6bfe4d7c" /><Relationship Type="http://schemas.openxmlformats.org/officeDocument/2006/relationships/slide" Target="/ppt/slides/slide8.xml" Id="R2de1d6fee85547b0" /><Relationship Type="http://schemas.openxmlformats.org/officeDocument/2006/relationships/slide" Target="/ppt/slides/slide9.xml" Id="Ra260ee703069490d" /><Relationship Type="http://schemas.openxmlformats.org/officeDocument/2006/relationships/slide" Target="/ppt/slides/slide10.xml" Id="R9eed0844566f4d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10160817a40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4eae8f69ae4e84" /><Relationship Type="http://schemas.openxmlformats.org/officeDocument/2006/relationships/notesMaster" Target="/ppt/notesMasters/notesMaster1.xml" Id="R750874e1ab5b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da6fb999ee48ce" /><Relationship Type="http://schemas.openxmlformats.org/officeDocument/2006/relationships/notesMaster" Target="/ppt/notesMasters/notesMaster1.xml" Id="R5801bcefef1240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4b4df8bf274802" /><Relationship Type="http://schemas.openxmlformats.org/officeDocument/2006/relationships/notesMaster" Target="/ppt/notesMasters/notesMaster1.xml" Id="Rbfa26e63085549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e6128d38b4ccc" /><Relationship Type="http://schemas.openxmlformats.org/officeDocument/2006/relationships/notesMaster" Target="/ppt/notesMasters/notesMaster1.xml" Id="R3b93a65864ec4d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77f558ea3d4a2e" /><Relationship Type="http://schemas.openxmlformats.org/officeDocument/2006/relationships/notesMaster" Target="/ppt/notesMasters/notesMaster1.xml" Id="R06b917768b9847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a3dbcd40204587" /><Relationship Type="http://schemas.openxmlformats.org/officeDocument/2006/relationships/notesMaster" Target="/ppt/notesMasters/notesMaster1.xml" Id="R74d1d88d67804b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6e24af7f56464d" /><Relationship Type="http://schemas.openxmlformats.org/officeDocument/2006/relationships/notesMaster" Target="/ppt/notesMasters/notesMaster1.xml" Id="R20b8e33388a84a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1004c8a5294ec4" /><Relationship Type="http://schemas.openxmlformats.org/officeDocument/2006/relationships/notesMaster" Target="/ppt/notesMasters/notesMaster1.xml" Id="Rcda04b60f20548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028fab63c84a68" /><Relationship Type="http://schemas.openxmlformats.org/officeDocument/2006/relationships/notesMaster" Target="/ppt/notesMasters/notesMaster1.xml" Id="R4fb77e7a468549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5c9d3e57724d28" /><Relationship Type="http://schemas.openxmlformats.org/officeDocument/2006/relationships/notesMaster" Target="/ppt/notesMasters/notesMaster1.xml" Id="R2d352185d35f49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建议讲解20秒。介绍HealthAgent认证、个人信息和血压记录后端测试。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建议讲解40秒。测试聚焦认证、个人信息和血压记录后端接口。按接口、服务和数据模型组织。边界不含前端、OCR、RAG和云端模型；预测不评价医学准确性。</a:t>
            </a:r>
            <a:endParaRPr sz="1200"/>
          </a:p>
          <a:p xmlns:a="http://schemas.openxmlformats.org/drawingml/2006/main">
            <a:r>
              <a:rPr sz="1200"/>
              <a:t>来源：测试报告_模块一.docx、缺陷清单_模块一.docx、测试用例清单_模块一.xlsx、环境与实际工作登记.md及2026-09-12执行日志。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建议讲解40秒。30条执行实例中，等价类16条，场景法14条。注册输入校验的4个参数化实例分别计数。专项3条不并入默认清单。</a:t>
            </a:r>
            <a:endParaRPr sz="1200"/>
          </a:p>
          <a:p xmlns:a="http://schemas.openxmlformats.org/drawingml/2006/main">
            <a:r>
              <a:rPr sz="1200"/>
              <a:t>来源：测试报告_模块一.docx、缺陷清单_模块一.docx、测试用例清单_模块一.xlsx、环境与实际工作登记.md及2026-09-12执行日志。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建议讲解40秒。TC-019首先验证旧密码，再修改为新密码。204只证明请求完成，还要检查旧密码401、新密码200。其他代表用例包括重复邮箱409、跨用户访问404及统计均值130。</a:t>
            </a:r>
            <a:endParaRPr sz="1200"/>
          </a:p>
          <a:p xmlns:a="http://schemas.openxmlformats.org/drawingml/2006/main">
            <a:r>
              <a:rPr sz="1200"/>
              <a:t>来源：测试报告_模块一.docx、缺陷清单_模块一.docx、测试用例清单_模块一.xlsx、环境与实际工作登记.md及2026-09-12执行日志。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建议讲解40秒。fixture在隔离内存SQLite中建表清表，覆盖get_db，StaticPool共享同一用例的连接。默认一键脚本选择三个测试文件，输出日志和JUnit XML。</a:t>
            </a:r>
            <a:endParaRPr sz="1200"/>
          </a:p>
          <a:p xmlns:a="http://schemas.openxmlformats.org/drawingml/2006/main">
            <a:r>
              <a:rPr sz="1200"/>
              <a:t>来源：测试报告_模块一.docx、缺陷清单_模块一.docx、测试用例清单_模块一.xlsx、环境与实际工作登记.md及2026-09-12执行日志。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建议讲解40秒。已有2026-09-12日志：原功能回归30 passed，7.20秒；定向专项3 failed，修复后3 passed，5.80秒。默认全通过仍会遗漏特殊输入组合。</a:t>
            </a:r>
            <a:endParaRPr sz="1200"/>
          </a:p>
          <a:p xmlns:a="http://schemas.openxmlformats.org/drawingml/2006/main">
            <a:r>
              <a:rPr sz="1200"/>
              <a:t>来源：测试报告_模块一.docx、缺陷清单_模块一.docx、测试用例清单_模块一.xlsx、环境与实际工作登记.md及2026-09-12执行日志。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建议讲解40秒。D01根因是bcrypt只验证前72字节，新凭证改用bcrypt_sha256；短旧密码兼容，旧长凭证需重置。D02更新模型接受显式null，写入后违反非空约束；增加字段校验后422且原值保留，可空字段可以清空。</a:t>
            </a:r>
            <a:endParaRPr sz="1200"/>
          </a:p>
          <a:p xmlns:a="http://schemas.openxmlformats.org/drawingml/2006/main">
            <a:r>
              <a:rPr sz="1200"/>
              <a:t>来源：测试报告_模块一.docx、缺陷清单_模块一.docx、测试用例清单_模块一.xlsx、环境与实际工作登记.md及2026-09-12执行日志。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40秒。两条查询均使用同一实际时刻到下一秒的区间。修复前SQLite存取丢失偏移，UTC查询0条、+08:00查询1条。UTCDateTime统一写入、参数绑定和读取后均命中1条。专项覆盖跨日负偏移、+05:30更新及无时区更新。历史非UTC数据未自动迁移。</a:t>
            </a:r>
            <a:endParaRPr sz="1200"/>
          </a:p>
          <a:p xmlns:a="http://schemas.openxmlformats.org/drawingml/2006/main">
            <a:r>
              <a:rPr sz="1200"/>
              <a:t>来源：测试报告_模块一.docx、缺陷清单_模块一.docx、测试用例清单_模块一.xlsx、环境与实际工作登记.md及2026-09-12执行日志。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建议讲解40秒。证据包括修复前后日志、XML、复现JSON及修复前源码快照。reproduce_defects.py的退出码0表示缺陷存在，不能替代修复后正确行为回归。质量结论仅适用于选定范围。</a:t>
            </a:r>
            <a:endParaRPr sz="1200"/>
          </a:p>
          <a:p xmlns:a="http://schemas.openxmlformats.org/drawingml/2006/main">
            <a:r>
              <a:rPr sz="1200"/>
              <a:t>来源：测试报告_模块一.docx、缺陷清单_模块一.docx、测试用例清单_模块一.xlsx、环境与实际工作登记.md及2026-09-12执行日志。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建议讲解40秒。两人各负责15条用例，按任务安排各50%。D03共同负责，实际有效缺陷仍为3个。袁立沛9月13日已完成、陆京超9月14日计划完成。个人新增代码量与Git贡献以实际记录为准。</a:t>
            </a:r>
            <a:endParaRPr sz="1200"/>
          </a:p>
          <a:p xmlns:a="http://schemas.openxmlformats.org/drawingml/2006/main">
            <a:r>
              <a:rPr sz="1200"/>
              <a:t>来源：测试报告_模块一.docx、缺陷清单_模块一.docx、测试用例清单_模块一.xlsx、环境与实际工作登记.md及2026-09-12执行日志。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27b80570a49a3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a5edfb9bc04138" /><Relationship Type="http://schemas.openxmlformats.org/officeDocument/2006/relationships/slideLayout" Target="/ppt/slideLayouts/slideLayout1.xml" Id="R5eddad86abf9496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ddad86abf94964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fa52715714eea" /><Relationship Type="http://schemas.openxmlformats.org/officeDocument/2006/relationships/image" Target="/ppt/media/image.jpeg" Id="R882b3c8511fa4809" /><Relationship Type="http://schemas.openxmlformats.org/officeDocument/2006/relationships/notesSlide" Target="/ppt/notesSlides/notesSlide1.xml" Id="R9f6a8f8bd1af41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8a92743264be0" /><Relationship Type="http://schemas.openxmlformats.org/officeDocument/2006/relationships/image" Target="/ppt/media/image.jpeg" Id="R09ea60c84dee4f36" /><Relationship Type="http://schemas.openxmlformats.org/officeDocument/2006/relationships/notesSlide" Target="/ppt/notesSlides/notesSlide2.xml" Id="R01c78b8d16e543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5acba3dfb46b3" /><Relationship Type="http://schemas.openxmlformats.org/officeDocument/2006/relationships/image" Target="/ppt/media/image.jpeg" Id="R7b01e37e045f4b07" /><Relationship Type="http://schemas.openxmlformats.org/officeDocument/2006/relationships/notesSlide" Target="/ppt/notesSlides/notesSlide3.xml" Id="Ra832c4f856bc4a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f3575e2024817" /><Relationship Type="http://schemas.openxmlformats.org/officeDocument/2006/relationships/image" Target="/ppt/media/image.jpeg" Id="Rd0d27a257f1a4249" /><Relationship Type="http://schemas.openxmlformats.org/officeDocument/2006/relationships/notesSlide" Target="/ppt/notesSlides/notesSlide4.xml" Id="Re2493ed2544c49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0d4cf5f7b483d" /><Relationship Type="http://schemas.openxmlformats.org/officeDocument/2006/relationships/image" Target="/ppt/media/image.jpeg" Id="R78fead01a5fd4953" /><Relationship Type="http://schemas.openxmlformats.org/officeDocument/2006/relationships/notesSlide" Target="/ppt/notesSlides/notesSlide5.xml" Id="R09e49739dde14b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2be8d022944bc" /><Relationship Type="http://schemas.openxmlformats.org/officeDocument/2006/relationships/image" Target="/ppt/media/image.jpeg" Id="R5032d468f4a34590" /><Relationship Type="http://schemas.openxmlformats.org/officeDocument/2006/relationships/notesSlide" Target="/ppt/notesSlides/notesSlide6.xml" Id="Red439c0f3de944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fdc7a5d9f4298" /><Relationship Type="http://schemas.openxmlformats.org/officeDocument/2006/relationships/image" Target="/ppt/media/image.jpeg" Id="R93704c8771d2419c" /><Relationship Type="http://schemas.openxmlformats.org/officeDocument/2006/relationships/notesSlide" Target="/ppt/notesSlides/notesSlide7.xml" Id="R98717048251047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b989bf0e24378" /><Relationship Type="http://schemas.openxmlformats.org/officeDocument/2006/relationships/image" Target="/ppt/media/image.jpeg" Id="R9b0acacb38bb42f4" /><Relationship Type="http://schemas.openxmlformats.org/officeDocument/2006/relationships/notesSlide" Target="/ppt/notesSlides/notesSlide8.xml" Id="R2080ef13b9f145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442dd10a2412f" /><Relationship Type="http://schemas.openxmlformats.org/officeDocument/2006/relationships/image" Target="/ppt/media/image.jpeg" Id="R762cb96f9ef14e68" /><Relationship Type="http://schemas.openxmlformats.org/officeDocument/2006/relationships/notesSlide" Target="/ppt/notesSlides/notesSlide9.xml" Id="R93a01b1087a649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da1229d624f0e" /><Relationship Type="http://schemas.openxmlformats.org/officeDocument/2006/relationships/image" Target="/ppt/media/image.jpeg" Id="Ra9b9f43ec7394114" /><Relationship Type="http://schemas.openxmlformats.org/officeDocument/2006/relationships/notesSlide" Target="/ppt/notesSlides/notesSlide10.xml" Id="R25269f0dd0ac47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21">
            <a:extLst xmlns:a="http://schemas.openxmlformats.org/drawingml/2006/main">
              <a:ext uri="{FF2B5EF4-FFF2-40B4-BE49-F238E27FC236}">
                <a16:creationId xmlns:a16="http://schemas.microsoft.com/office/drawing/2014/main" id="{4F533BFD-18FC-4F7D-AF1F-E0B5D479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828040"/>
            <a:ext cx="5335270" cy="554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600">
                <a:solidFill>
                  <a:srgbClr val="035393"/>
                </a:solidFill>
                <a:latin typeface="华文隶书"/>
                <a:ea typeface="华文隶书"/>
                <a:cs typeface="华文隶书"/>
              </a:rPr>
              <a:t>明德·厚学·求是·创新 </a:t>
            </a:r>
            <a:endParaRPr sz="3600"/>
          </a:p>
        </p:txBody>
      </p:sp>
      <p:sp>
        <p:nvSpPr>
          <p:cNvPr id="3" name="矩形 22">
            <a:extLst xmlns:a="http://schemas.openxmlformats.org/drawingml/2006/main">
              <a:ext uri="{FF2B5EF4-FFF2-40B4-BE49-F238E27FC236}">
                <a16:creationId xmlns:a16="http://schemas.microsoft.com/office/drawing/2014/main" id="{D13BC7C0-D569-4DF6-9F0E-77BC8D4F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6010"/>
            <a:ext cx="323977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</p:sp>
      <p:sp>
        <p:nvSpPr>
          <p:cNvPr id="4" name="矩形 23">
            <a:extLst xmlns:a="http://schemas.openxmlformats.org/drawingml/2006/main">
              <a:ext uri="{FF2B5EF4-FFF2-40B4-BE49-F238E27FC236}">
                <a16:creationId xmlns:a16="http://schemas.microsoft.com/office/drawing/2014/main" id="{E1A35B76-A198-41EB-BF0B-284C6343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2230" y="1096010"/>
            <a:ext cx="3239770" cy="1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23962"/>
            </a:solidFill>
          </a:ln>
        </p:spPr>
      </p:sp>
      <p:sp>
        <p:nvSpPr>
          <p:cNvPr id="5" name="矩形 24-shape">
            <a:extLst xmlns:a="http://schemas.openxmlformats.org/drawingml/2006/main">
              <a:ext uri="{FF2B5EF4-FFF2-40B4-BE49-F238E27FC236}">
                <a16:creationId xmlns:a16="http://schemas.microsoft.com/office/drawing/2014/main" id="{D019C8ED-C2C0-413E-80BE-593F68FC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0100"/>
            <a:ext cx="12192000" cy="1687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4472C4"/>
            </a:solidFill>
          </a:ln>
        </p:spPr>
      </p:sp>
      <p:sp>
        <p:nvSpPr>
          <p:cNvPr id="9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F596228-EE87-48CB-A6C5-99E52DDD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0" name="Freeform 8">
            <a:extLst xmlns:a="http://schemas.openxmlformats.org/drawingml/2006/main">
              <a:ext uri="{FF2B5EF4-FFF2-40B4-BE49-F238E27FC236}">
                <a16:creationId xmlns:a16="http://schemas.microsoft.com/office/drawing/2014/main" id="{770472EA-FF10-4798-B51B-2263F7A2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9">
            <a:extLst xmlns:a="http://schemas.openxmlformats.org/drawingml/2006/main">
              <a:ext uri="{FF2B5EF4-FFF2-40B4-BE49-F238E27FC236}">
                <a16:creationId xmlns:a16="http://schemas.microsoft.com/office/drawing/2014/main" id="{5BBA91AC-6CAF-4DD6-99CC-489E49E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0C0B9B1-EF66-43F1-9049-D3C01CD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4E48DCE-0674-4F15-A5F5-809D7C7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436F6E3-F6C5-4E02-A846-4C87E41D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FBD04F4-9E9E-47B7-A3C6-328F97B0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02360BC-1B8E-40B6-A516-61567216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7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1135B9B-18B2-4F92-8719-88543C1A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8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EB2A79B-055C-48B3-9525-A7F71145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9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0F38034-E839-4B93-A23C-F28419D7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81D29A1-8ACC-4A6E-8CBB-16257577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5">
            <a:extLst xmlns:a="http://schemas.openxmlformats.org/drawingml/2006/main">
              <a:ext uri="{FF2B5EF4-FFF2-40B4-BE49-F238E27FC236}">
                <a16:creationId xmlns:a16="http://schemas.microsoft.com/office/drawing/2014/main" id="{1362C6EE-FDE2-4271-8C69-783555AE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2" name="Freeform 6">
            <a:extLst xmlns:a="http://schemas.openxmlformats.org/drawingml/2006/main">
              <a:ext uri="{FF2B5EF4-FFF2-40B4-BE49-F238E27FC236}">
                <a16:creationId xmlns:a16="http://schemas.microsoft.com/office/drawing/2014/main" id="{6FC4243C-9276-4563-AC0B-1AB9E06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45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b3c8511fa4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" name="redesign-1">
            <a:extLst xmlns:a="http://schemas.openxmlformats.org/drawingml/2006/main">
              <a:ext uri="{FF2B5EF4-FFF2-40B4-BE49-F238E27FC236}">
                <a16:creationId xmlns:a16="http://schemas.microsoft.com/office/drawing/2014/main" id="{7AB254C6-96C9-4DB7-B40A-D278951E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047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52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HealthAgent</a:t>
            </a:r>
          </a:p>
          <a:p xmlns:a="http://schemas.openxmlformats.org/drawingml/2006/main">
            <a:pPr algn="ctr">
              <a:defRPr sz="352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52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模块一测试基础实践汇报</a:t>
            </a:r>
          </a:p>
        </p:txBody>
      </p:sp>
      <p:sp>
        <p:nvSpPr>
          <p:cNvPr id="25" name="redesign-2">
            <a:extLst xmlns:a="http://schemas.openxmlformats.org/drawingml/2006/main">
              <a:ext uri="{FF2B5EF4-FFF2-40B4-BE49-F238E27FC236}">
                <a16:creationId xmlns:a16="http://schemas.microsoft.com/office/drawing/2014/main" id="{01F325C8-7846-41AE-8585-29A5AEB3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陆京超 M202677236    袁立沛 M202677260</a:t>
            </a:r>
          </a:p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软件学院   软件测试与质量保证实践</a:t>
            </a:r>
          </a:p>
        </p:txBody>
      </p:sp>
      <p:sp>
        <p:nvSpPr>
          <p:cNvPr id="26" name="redesign-3">
            <a:extLst xmlns:a="http://schemas.openxmlformats.org/drawingml/2006/main">
              <a:ext uri="{FF2B5EF4-FFF2-40B4-BE49-F238E27FC236}">
                <a16:creationId xmlns:a16="http://schemas.microsoft.com/office/drawing/2014/main" id="{EDADBC82-E9A7-4CE5-9F9B-0461D4B4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9530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2026年9月13日</a:t>
            </a:r>
          </a:p>
        </p:txBody>
      </p:sp>
    </p:spTree>
    <p:extLst>
      <p:ext uri="{BB962C8B-B14F-4D97-AF65-F5344CB8AC3E}">
        <p14:creationId xmlns:p14="http://schemas.microsoft.com/office/powerpoint/2010/main" val="19734128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62879-C115-4CF5-85DF-D0E7E21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902970"/>
            <a:ext cx="6209030" cy="10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>
            <a:solidFill>
              <a:srgbClr val="0070C0"/>
            </a:solidFill>
          </a:ln>
        </p:spPr>
      </p:sp>
      <p:cxnSp>
        <p:nvCxnSpPr>
          <p:cNvPr id="97" name="Line 3"/>
          <p:cNvCxnSpPr/>
          <p:nvPr/>
        </p:nvCxnSpPr>
        <p:spPr>
          <a:xfrm xmlns:a="http://schemas.openxmlformats.org/drawingml/2006/main">
            <a:off x="815340" y="902970"/>
            <a:ext cx="10610850" cy="0"/>
          </a:xfrm>
          <a:prstGeom xmlns:a="http://schemas.openxmlformats.org/drawingml/2006/main" prst="straightConnector1">
            <a:avLst/>
          </a:prstGeom>
          <a:ln xmlns:a="http://schemas.openxmlformats.org/drawingml/2006/main" w="13546">
            <a:solidFill>
              <a:srgbClr val="0070C0"/>
            </a:solidFill>
          </a:ln>
        </p:spPr>
      </p:cxnSp>
      <p:sp>
        <p:nvSpPr>
          <p:cNvPr id="5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87854E-F01F-4AF8-AEAC-E03B771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" y="5967730"/>
            <a:ext cx="10179050" cy="6019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solidFill>
              <a:srgbClr val="D9D9D9"/>
            </a:solidFill>
          </a:ln>
        </p:spPr>
      </p:sp>
      <p:sp>
        <p:nvSpPr>
          <p:cNvPr id="6" name="矩形 93">
            <a:extLst xmlns:a="http://schemas.openxmlformats.org/drawingml/2006/main">
              <a:ext uri="{FF2B5EF4-FFF2-40B4-BE49-F238E27FC236}">
                <a16:creationId xmlns:a16="http://schemas.microsoft.com/office/drawing/2014/main" id="{CB23AD9A-F809-4AB4-8E97-5F35599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836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7" name="矩形 93-2">
            <a:extLst xmlns:a="http://schemas.openxmlformats.org/drawingml/2006/main">
              <a:ext uri="{FF2B5EF4-FFF2-40B4-BE49-F238E27FC236}">
                <a16:creationId xmlns:a16="http://schemas.microsoft.com/office/drawing/2014/main" id="{A1C4BA7B-2A16-499C-9320-93D91D1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98200" y="634238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1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C515D-92B5-45B9-8F11-6AA36F5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64ECBB-2A05-42CF-ADE7-6C35D65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8EA95D-C5D2-490B-9C48-BD2539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97066-DCEB-446E-BBF8-4EACCD0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F326D8-4702-49E4-BAA5-46E48CE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F0CE849-FC5F-4CF1-9224-282B65F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9605D9-58CB-4781-B463-D1577D5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8D89FF-B864-44F7-AA74-A4E6897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E45F801-297F-4147-B3C2-F26DD3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1675BB2-8622-4423-A3B7-5711CED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23ADDAB-683A-47F1-8589-3C9D216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9AC41DE-2DFC-4C03-B709-B59D276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44BEC1-F352-4A9D-8C65-08762DD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500711-0474-4C40-B442-F30EED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115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a60c84dee4f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redesign-4">
            <a:extLst xmlns:a="http://schemas.openxmlformats.org/drawingml/2006/main">
              <a:ext uri="{FF2B5EF4-FFF2-40B4-BE49-F238E27FC236}">
                <a16:creationId xmlns:a16="http://schemas.microsoft.com/office/drawing/2014/main" id="{98D40BAF-5BE2-4EE9-814B-E78B56CE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857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被测对象与测试范围</a:t>
            </a:r>
          </a:p>
        </p:txBody>
      </p:sp>
      <p:sp>
        <p:nvSpPr>
          <p:cNvPr id="82" name="redesign-5">
            <a:extLst xmlns:a="http://schemas.openxmlformats.org/drawingml/2006/main">
              <a:ext uri="{FF2B5EF4-FFF2-40B4-BE49-F238E27FC236}">
                <a16:creationId xmlns:a16="http://schemas.microsoft.com/office/drawing/2014/main" id="{3635D3E5-A3DA-40B9-957D-F1D242E8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0293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5C4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0075C4"/>
                </a:solidFill>
                <a:latin typeface="Heiti SC"/>
                <a:ea typeface="Heiti SC"/>
                <a:cs typeface="Heiti SC"/>
              </a:rPr>
              <a:t>围绕接口响应、业务状态和用户隔离进行验证</a:t>
            </a:r>
          </a:p>
        </p:txBody>
      </p:sp>
      <p:sp>
        <p:nvSpPr>
          <p:cNvPr id="83" name="redesign-6">
            <a:extLst xmlns:a="http://schemas.openxmlformats.org/drawingml/2006/main">
              <a:ext uri="{FF2B5EF4-FFF2-40B4-BE49-F238E27FC236}">
                <a16:creationId xmlns:a16="http://schemas.microsoft.com/office/drawing/2014/main" id="{87E13AD2-76D0-420D-9634-5B4644ED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2</a:t>
            </a:r>
          </a:p>
        </p:txBody>
      </p:sp>
      <p:sp>
        <p:nvSpPr>
          <p:cNvPr id="84" name="redesign-31">
            <a:extLst xmlns:a="http://schemas.openxmlformats.org/drawingml/2006/main">
              <a:ext uri="{FF2B5EF4-FFF2-40B4-BE49-F238E27FC236}">
                <a16:creationId xmlns:a16="http://schemas.microsoft.com/office/drawing/2014/main" id="{7413D6A6-8619-4937-8738-549D4E36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HealthAgent 后端 API</a:t>
            </a:r>
          </a:p>
        </p:txBody>
      </p:sp>
      <p:sp>
        <p:nvSpPr>
          <p:cNvPr id="85" name="diagram-node-32">
            <a:extLst xmlns:a="http://schemas.openxmlformats.org/drawingml/2006/main">
              <a:ext uri="{FF2B5EF4-FFF2-40B4-BE49-F238E27FC236}">
                <a16:creationId xmlns:a16="http://schemas.microsoft.com/office/drawing/2014/main" id="{AD3645CE-00B1-46C6-BB4F-E77FB170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认证</a:t>
            </a:r>
          </a:p>
        </p:txBody>
      </p:sp>
      <p:sp>
        <p:nvSpPr>
          <p:cNvPr id="86" name="diagram-node-33">
            <a:extLst xmlns:a="http://schemas.openxmlformats.org/drawingml/2006/main">
              <a:ext uri="{FF2B5EF4-FFF2-40B4-BE49-F238E27FC236}">
                <a16:creationId xmlns:a16="http://schemas.microsoft.com/office/drawing/2014/main" id="{7616C5B3-4260-46C1-A44F-53F07363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个人信息</a:t>
            </a:r>
          </a:p>
        </p:txBody>
      </p:sp>
      <p:sp>
        <p:nvSpPr>
          <p:cNvPr id="87" name="diagram-node-34">
            <a:extLst xmlns:a="http://schemas.openxmlformats.org/drawingml/2006/main">
              <a:ext uri="{FF2B5EF4-FFF2-40B4-BE49-F238E27FC236}">
                <a16:creationId xmlns:a16="http://schemas.microsoft.com/office/drawing/2014/main" id="{65F93923-897F-4093-BBC7-88BB43CE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血压记录</a:t>
            </a:r>
          </a:p>
        </p:txBody>
      </p:sp>
      <p:sp>
        <p:nvSpPr>
          <p:cNvPr id="88" name="redesign-35">
            <a:extLst xmlns:a="http://schemas.openxmlformats.org/drawingml/2006/main">
              <a:ext uri="{FF2B5EF4-FFF2-40B4-BE49-F238E27FC236}">
                <a16:creationId xmlns:a16="http://schemas.microsoft.com/office/drawing/2014/main" id="{149B2CAD-2864-4809-BC5C-DC52BAF8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注册 · 登录 · 令牌刷新</a:t>
            </a:r>
          </a:p>
        </p:txBody>
      </p:sp>
      <p:sp>
        <p:nvSpPr>
          <p:cNvPr id="89" name="redesign-36">
            <a:extLst xmlns:a="http://schemas.openxmlformats.org/drawingml/2006/main">
              <a:ext uri="{FF2B5EF4-FFF2-40B4-BE49-F238E27FC236}">
                <a16:creationId xmlns:a16="http://schemas.microsoft.com/office/drawing/2014/main" id="{BEF84B7D-324C-49B8-91AD-814F0E3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资料读取 · 修改 · 改密</a:t>
            </a:r>
          </a:p>
        </p:txBody>
      </p:sp>
      <p:sp>
        <p:nvSpPr>
          <p:cNvPr id="90" name="redesign-37">
            <a:extLst xmlns:a="http://schemas.openxmlformats.org/drawingml/2006/main">
              <a:ext uri="{FF2B5EF4-FFF2-40B4-BE49-F238E27FC236}">
                <a16:creationId xmlns:a16="http://schemas.microsoft.com/office/drawing/2014/main" id="{AD80F524-E9D7-4ED8-A62A-CB144BE1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增删改查 · 隔离 · 统计</a:t>
            </a:r>
          </a:p>
        </p:txBody>
      </p:sp>
      <p:sp>
        <p:nvSpPr>
          <p:cNvPr id="91" name="diagram-arrow-38">
            <a:extLst xmlns:a="http://schemas.openxmlformats.org/drawingml/2006/main">
              <a:ext uri="{FF2B5EF4-FFF2-40B4-BE49-F238E27FC236}">
                <a16:creationId xmlns:a16="http://schemas.microsoft.com/office/drawing/2014/main" id="{32E092FA-5DD9-46C1-8DE7-46DEA2AC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33625" y="38957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92" name="diagram-arrow-39">
            <a:extLst xmlns:a="http://schemas.openxmlformats.org/drawingml/2006/main">
              <a:ext uri="{FF2B5EF4-FFF2-40B4-BE49-F238E27FC236}">
                <a16:creationId xmlns:a16="http://schemas.microsoft.com/office/drawing/2014/main" id="{04644026-1605-49A7-87DF-81B1BAE5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53125" y="38957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93" name="diagram-arrow-40">
            <a:extLst xmlns:a="http://schemas.openxmlformats.org/drawingml/2006/main">
              <a:ext uri="{FF2B5EF4-FFF2-40B4-BE49-F238E27FC236}">
                <a16:creationId xmlns:a16="http://schemas.microsoft.com/office/drawing/2014/main" id="{C7FA211F-BADC-4380-8550-4D65E29F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72625" y="389572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94" name="diagram-node-41">
            <a:extLst xmlns:a="http://schemas.openxmlformats.org/drawingml/2006/main">
              <a:ext uri="{FF2B5EF4-FFF2-40B4-BE49-F238E27FC236}">
                <a16:creationId xmlns:a16="http://schemas.microsoft.com/office/drawing/2014/main" id="{C6E49D5B-DCDD-419B-8DED-0A3A3385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386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接口层  →  服务层  →  SQLAlchemy 数据模型</a:t>
            </a:r>
          </a:p>
        </p:txBody>
      </p:sp>
      <p:sp>
        <p:nvSpPr>
          <p:cNvPr id="95" name="redesign-42">
            <a:extLst xmlns:a="http://schemas.openxmlformats.org/drawingml/2006/main">
              <a:ext uri="{FF2B5EF4-FFF2-40B4-BE49-F238E27FC236}">
                <a16:creationId xmlns:a16="http://schemas.microsoft.com/office/drawing/2014/main" id="{C8454F32-B191-44AB-9D26-3ED14D16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2197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范围：认证13条、个人信息7条、血压记录10条。</a:t>
            </a:r>
          </a:p>
          <a:p xmlns:a="http://schemas.openxmlformats.org/drawingml/2006/main">
            <a:pPr algn="l">
              <a:defRPr sz="1650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不含前端、OCR、RAG和云端模型；预测仅检查接口行为。</a:t>
            </a:r>
          </a:p>
        </p:txBody>
      </p:sp>
    </p:spTree>
    <p:extLst>
      <p:ext uri="{BB962C8B-B14F-4D97-AF65-F5344CB8AC3E}">
        <p14:creationId xmlns:p14="http://schemas.microsoft.com/office/powerpoint/2010/main" val="11764932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62879-C115-4CF5-85DF-D0E7E21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902970"/>
            <a:ext cx="6209030" cy="10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>
            <a:solidFill>
              <a:srgbClr val="0070C0"/>
            </a:solidFill>
          </a:ln>
        </p:spPr>
      </p:sp>
      <p:cxnSp>
        <p:nvCxnSpPr>
          <p:cNvPr id="93" name="Line 3"/>
          <p:cNvCxnSpPr/>
          <p:nvPr/>
        </p:nvCxnSpPr>
        <p:spPr>
          <a:xfrm xmlns:a="http://schemas.openxmlformats.org/drawingml/2006/main">
            <a:off x="815340" y="902970"/>
            <a:ext cx="10610850" cy="0"/>
          </a:xfrm>
          <a:prstGeom xmlns:a="http://schemas.openxmlformats.org/drawingml/2006/main" prst="straightConnector1">
            <a:avLst/>
          </a:prstGeom>
          <a:ln xmlns:a="http://schemas.openxmlformats.org/drawingml/2006/main" w="13546">
            <a:solidFill>
              <a:srgbClr val="0070C0"/>
            </a:solidFill>
          </a:ln>
        </p:spPr>
      </p:cxnSp>
      <p:sp>
        <p:nvSpPr>
          <p:cNvPr id="5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87854E-F01F-4AF8-AEAC-E03B771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" y="5967730"/>
            <a:ext cx="10179050" cy="6019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solidFill>
              <a:srgbClr val="D9D9D9"/>
            </a:solidFill>
          </a:ln>
        </p:spPr>
      </p:sp>
      <p:sp>
        <p:nvSpPr>
          <p:cNvPr id="6" name="矩形 93">
            <a:extLst xmlns:a="http://schemas.openxmlformats.org/drawingml/2006/main">
              <a:ext uri="{FF2B5EF4-FFF2-40B4-BE49-F238E27FC236}">
                <a16:creationId xmlns:a16="http://schemas.microsoft.com/office/drawing/2014/main" id="{CB23AD9A-F809-4AB4-8E97-5F35599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836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7" name="矩形 93-2">
            <a:extLst xmlns:a="http://schemas.openxmlformats.org/drawingml/2006/main">
              <a:ext uri="{FF2B5EF4-FFF2-40B4-BE49-F238E27FC236}">
                <a16:creationId xmlns:a16="http://schemas.microsoft.com/office/drawing/2014/main" id="{A1C4BA7B-2A16-499C-9320-93D91D1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98200" y="634238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1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C515D-92B5-45B9-8F11-6AA36F5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64ECBB-2A05-42CF-ADE7-6C35D65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8EA95D-C5D2-490B-9C48-BD2539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97066-DCEB-446E-BBF8-4EACCD0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F326D8-4702-49E4-BAA5-46E48CE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F0CE849-FC5F-4CF1-9224-282B65F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9605D9-58CB-4781-B463-D1577D5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8D89FF-B864-44F7-AA74-A4E6897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E45F801-297F-4147-B3C2-F26DD3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1675BB2-8622-4423-A3B7-5711CED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23ADDAB-683A-47F1-8589-3C9D216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9AC41DE-2DFC-4C03-B709-B59D276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44BEC1-F352-4A9D-8C65-08762DD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500711-0474-4C40-B442-F30EED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111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1e37e045f4b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redesign-7">
            <a:extLst xmlns:a="http://schemas.openxmlformats.org/drawingml/2006/main">
              <a:ext uri="{FF2B5EF4-FFF2-40B4-BE49-F238E27FC236}">
                <a16:creationId xmlns:a16="http://schemas.microsoft.com/office/drawing/2014/main" id="{3C9F1D6A-49D3-4FEC-85C4-1D1DAD47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857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测试策略与用例分布</a:t>
            </a:r>
          </a:p>
        </p:txBody>
      </p:sp>
      <p:sp>
        <p:nvSpPr>
          <p:cNvPr id="82" name="redesign-8">
            <a:extLst xmlns:a="http://schemas.openxmlformats.org/drawingml/2006/main">
              <a:ext uri="{FF2B5EF4-FFF2-40B4-BE49-F238E27FC236}">
                <a16:creationId xmlns:a16="http://schemas.microsoft.com/office/drawing/2014/main" id="{76A95BC9-01A9-4E72-8C6D-A30A8152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0293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5C4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0075C4"/>
                </a:solidFill>
                <a:latin typeface="Heiti SC"/>
                <a:ea typeface="Heiti SC"/>
                <a:cs typeface="Heiti SC"/>
              </a:rPr>
              <a:t>等价类覆盖输入边界，场景法验证连续操作</a:t>
            </a:r>
          </a:p>
        </p:txBody>
      </p:sp>
      <p:sp>
        <p:nvSpPr>
          <p:cNvPr id="83" name="redesign-9">
            <a:extLst xmlns:a="http://schemas.openxmlformats.org/drawingml/2006/main">
              <a:ext uri="{FF2B5EF4-FFF2-40B4-BE49-F238E27FC236}">
                <a16:creationId xmlns:a16="http://schemas.microsoft.com/office/drawing/2014/main" id="{22E4C720-D24D-4FC5-BF70-0F4C658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3</a:t>
            </a:r>
          </a:p>
        </p:txBody>
      </p:sp>
      <p:sp>
        <p:nvSpPr>
          <p:cNvPr id="84" name="redesign-43">
            <a:extLst xmlns:a="http://schemas.openxmlformats.org/drawingml/2006/main">
              <a:ext uri="{FF2B5EF4-FFF2-40B4-BE49-F238E27FC236}">
                <a16:creationId xmlns:a16="http://schemas.microsoft.com/office/drawing/2014/main" id="{6491FDD8-13C3-4245-BE28-5EFC4BD7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239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30条执行实例，两种设计方法</a:t>
            </a:r>
          </a:p>
        </p:txBody>
      </p:sp>
      <p:sp>
        <p:nvSpPr>
          <p:cNvPr id="85" name="redesign-44">
            <a:extLst xmlns:a="http://schemas.openxmlformats.org/drawingml/2006/main">
              <a:ext uri="{FF2B5EF4-FFF2-40B4-BE49-F238E27FC236}">
                <a16:creationId xmlns:a16="http://schemas.microsoft.com/office/drawing/2014/main" id="{9527AB3D-401E-4B0B-9F74-E39E542E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361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660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16</a:t>
            </a:r>
          </a:p>
        </p:txBody>
      </p:sp>
      <p:sp>
        <p:nvSpPr>
          <p:cNvPr id="86" name="redesign-45">
            <a:extLst xmlns:a="http://schemas.openxmlformats.org/drawingml/2006/main">
              <a:ext uri="{FF2B5EF4-FFF2-40B4-BE49-F238E27FC236}">
                <a16:creationId xmlns:a16="http://schemas.microsoft.com/office/drawing/2014/main" id="{6D1F25A3-50EE-4BBC-BB58-B624714B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8612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等价类</a:t>
            </a:r>
          </a:p>
        </p:txBody>
      </p:sp>
      <p:sp>
        <p:nvSpPr>
          <p:cNvPr id="87" name="redesign-46">
            <a:extLst xmlns:a="http://schemas.openxmlformats.org/drawingml/2006/main">
              <a:ext uri="{FF2B5EF4-FFF2-40B4-BE49-F238E27FC236}">
                <a16:creationId xmlns:a16="http://schemas.microsoft.com/office/drawing/2014/main" id="{0306ACAF-FF7A-4ED4-9E32-AA84F676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无效用户名、邮箱、密码和令牌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血压数值边界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代表：重复邮箱注册 → 409</a:t>
            </a:r>
          </a:p>
        </p:txBody>
      </p:sp>
      <p:sp>
        <p:nvSpPr>
          <p:cNvPr id="88" name="redesign-47">
            <a:extLst xmlns:a="http://schemas.openxmlformats.org/drawingml/2006/main">
              <a:ext uri="{FF2B5EF4-FFF2-40B4-BE49-F238E27FC236}">
                <a16:creationId xmlns:a16="http://schemas.microsoft.com/office/drawing/2014/main" id="{93C8EA16-8137-40BE-B673-3B8B4558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361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660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14</a:t>
            </a:r>
          </a:p>
        </p:txBody>
      </p:sp>
      <p:sp>
        <p:nvSpPr>
          <p:cNvPr id="89" name="redesign-48">
            <a:extLst xmlns:a="http://schemas.openxmlformats.org/drawingml/2006/main">
              <a:ext uri="{FF2B5EF4-FFF2-40B4-BE49-F238E27FC236}">
                <a16:creationId xmlns:a16="http://schemas.microsoft.com/office/drawing/2014/main" id="{90909C5D-5FE1-4F42-8EC6-A7BFA077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8612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场景法</a:t>
            </a:r>
          </a:p>
        </p:txBody>
      </p:sp>
      <p:sp>
        <p:nvSpPr>
          <p:cNvPr id="90" name="redesign-49">
            <a:extLst xmlns:a="http://schemas.openxmlformats.org/drawingml/2006/main">
              <a:ext uri="{FF2B5EF4-FFF2-40B4-BE49-F238E27FC236}">
                <a16:creationId xmlns:a16="http://schemas.microsoft.com/office/drawing/2014/main" id="{9A2F5D9A-C8EF-46EC-AEAB-A37721B6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14775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注册后登录、改密后登录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跨用户访问、记录修改和删除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代表：他人记录访问 → 404</a:t>
            </a:r>
          </a:p>
        </p:txBody>
      </p:sp>
      <p:sp>
        <p:nvSpPr>
          <p:cNvPr id="91" name="redesign-50">
            <a:extLst xmlns:a="http://schemas.openxmlformats.org/drawingml/2006/main">
              <a:ext uri="{FF2B5EF4-FFF2-40B4-BE49-F238E27FC236}">
                <a16:creationId xmlns:a16="http://schemas.microsoft.com/office/drawing/2014/main" id="{88C4E8D5-C845-49D0-BD49-0972F1C1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注册参数校验的4个实例分别计数；3条缺陷专项回归单独统计。</a:t>
            </a:r>
          </a:p>
        </p:txBody>
      </p:sp>
    </p:spTree>
    <p:extLst>
      <p:ext uri="{BB962C8B-B14F-4D97-AF65-F5344CB8AC3E}">
        <p14:creationId xmlns:p14="http://schemas.microsoft.com/office/powerpoint/2010/main" val="11764932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62879-C115-4CF5-85DF-D0E7E21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902970"/>
            <a:ext cx="6209030" cy="10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>
            <a:solidFill>
              <a:srgbClr val="0070C0"/>
            </a:solidFill>
          </a:ln>
        </p:spPr>
      </p:sp>
      <p:cxnSp>
        <p:nvCxnSpPr>
          <p:cNvPr id="95" name="Line 3"/>
          <p:cNvCxnSpPr/>
          <p:nvPr/>
        </p:nvCxnSpPr>
        <p:spPr>
          <a:xfrm xmlns:a="http://schemas.openxmlformats.org/drawingml/2006/main">
            <a:off x="815340" y="902970"/>
            <a:ext cx="10610850" cy="0"/>
          </a:xfrm>
          <a:prstGeom xmlns:a="http://schemas.openxmlformats.org/drawingml/2006/main" prst="straightConnector1">
            <a:avLst/>
          </a:prstGeom>
          <a:ln xmlns:a="http://schemas.openxmlformats.org/drawingml/2006/main" w="13546">
            <a:solidFill>
              <a:srgbClr val="0070C0"/>
            </a:solidFill>
          </a:ln>
        </p:spPr>
      </p:cxnSp>
      <p:sp>
        <p:nvSpPr>
          <p:cNvPr id="5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87854E-F01F-4AF8-AEAC-E03B771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" y="5967730"/>
            <a:ext cx="10179050" cy="6019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solidFill>
              <a:srgbClr val="D9D9D9"/>
            </a:solidFill>
          </a:ln>
        </p:spPr>
      </p:sp>
      <p:sp>
        <p:nvSpPr>
          <p:cNvPr id="6" name="矩形 93">
            <a:extLst xmlns:a="http://schemas.openxmlformats.org/drawingml/2006/main">
              <a:ext uri="{FF2B5EF4-FFF2-40B4-BE49-F238E27FC236}">
                <a16:creationId xmlns:a16="http://schemas.microsoft.com/office/drawing/2014/main" id="{CB23AD9A-F809-4AB4-8E97-5F35599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836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7" name="矩形 93-2">
            <a:extLst xmlns:a="http://schemas.openxmlformats.org/drawingml/2006/main">
              <a:ext uri="{FF2B5EF4-FFF2-40B4-BE49-F238E27FC236}">
                <a16:creationId xmlns:a16="http://schemas.microsoft.com/office/drawing/2014/main" id="{A1C4BA7B-2A16-499C-9320-93D91D1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98200" y="634238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1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C515D-92B5-45B9-8F11-6AA36F5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64ECBB-2A05-42CF-ADE7-6C35D65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8EA95D-C5D2-490B-9C48-BD2539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97066-DCEB-446E-BBF8-4EACCD0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F326D8-4702-49E4-BAA5-46E48CE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F0CE849-FC5F-4CF1-9224-282B65F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9605D9-58CB-4781-B463-D1577D5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8D89FF-B864-44F7-AA74-A4E6897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E45F801-297F-4147-B3C2-F26DD3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1675BB2-8622-4423-A3B7-5711CED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23ADDAB-683A-47F1-8589-3C9D216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9AC41DE-2DFC-4C03-B709-B59D276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44BEC1-F352-4A9D-8C65-08762DD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500711-0474-4C40-B442-F30EED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113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27a257f1a42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redesign-10">
            <a:extLst xmlns:a="http://schemas.openxmlformats.org/drawingml/2006/main">
              <a:ext uri="{FF2B5EF4-FFF2-40B4-BE49-F238E27FC236}">
                <a16:creationId xmlns:a16="http://schemas.microsoft.com/office/drawing/2014/main" id="{8A4E2F29-6EFC-4E5F-975D-73278267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857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典型用例：修改密码</a:t>
            </a:r>
          </a:p>
        </p:txBody>
      </p:sp>
      <p:sp>
        <p:nvSpPr>
          <p:cNvPr id="82" name="redesign-11">
            <a:extLst xmlns:a="http://schemas.openxmlformats.org/drawingml/2006/main">
              <a:ext uri="{FF2B5EF4-FFF2-40B4-BE49-F238E27FC236}">
                <a16:creationId xmlns:a16="http://schemas.microsoft.com/office/drawing/2014/main" id="{0535A47C-9DF2-4533-A6EF-6C05F47F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0293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5C4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0075C4"/>
                </a:solidFill>
                <a:latin typeface="Heiti SC"/>
                <a:ea typeface="Heiti SC"/>
                <a:cs typeface="Heiti SC"/>
              </a:rPr>
              <a:t>请求成功之后，还要验证旧密码失效、新密码生效</a:t>
            </a:r>
          </a:p>
        </p:txBody>
      </p:sp>
      <p:sp>
        <p:nvSpPr>
          <p:cNvPr id="83" name="redesign-12">
            <a:extLst xmlns:a="http://schemas.openxmlformats.org/drawingml/2006/main">
              <a:ext uri="{FF2B5EF4-FFF2-40B4-BE49-F238E27FC236}">
                <a16:creationId xmlns:a16="http://schemas.microsoft.com/office/drawing/2014/main" id="{ECB3F783-301C-4944-86F3-85528F14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4</a:t>
            </a:r>
          </a:p>
        </p:txBody>
      </p:sp>
      <p:sp>
        <p:nvSpPr>
          <p:cNvPr id="84" name="redesign-51">
            <a:extLst xmlns:a="http://schemas.openxmlformats.org/drawingml/2006/main">
              <a:ext uri="{FF2B5EF4-FFF2-40B4-BE49-F238E27FC236}">
                <a16:creationId xmlns:a16="http://schemas.microsoft.com/office/drawing/2014/main" id="{D6045F1D-55C7-4DC0-A3AA-D77A8A8F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144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TC-019：从改密请求到凭证生效</a:t>
            </a:r>
          </a:p>
        </p:txBody>
      </p:sp>
      <p:sp>
        <p:nvSpPr>
          <p:cNvPr id="85" name="diagram-node-52">
            <a:extLst xmlns:a="http://schemas.openxmlformats.org/drawingml/2006/main">
              <a:ext uri="{FF2B5EF4-FFF2-40B4-BE49-F238E27FC236}">
                <a16:creationId xmlns:a16="http://schemas.microsoft.com/office/drawing/2014/main" id="{27AAA2FB-2A47-4CAF-BF65-F0886F47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6222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旧密码验证</a:t>
            </a:r>
          </a:p>
        </p:txBody>
      </p:sp>
      <p:sp>
        <p:nvSpPr>
          <p:cNvPr id="86" name="diagram-node-53">
            <a:extLst xmlns:a="http://schemas.openxmlformats.org/drawingml/2006/main">
              <a:ext uri="{FF2B5EF4-FFF2-40B4-BE49-F238E27FC236}">
                <a16:creationId xmlns:a16="http://schemas.microsoft.com/office/drawing/2014/main" id="{F50FAA04-923B-44F4-9CD3-EA01F73B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6222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修改密码</a:t>
            </a:r>
          </a:p>
        </p:txBody>
      </p:sp>
      <p:sp>
        <p:nvSpPr>
          <p:cNvPr id="87" name="diagram-node-54">
            <a:extLst xmlns:a="http://schemas.openxmlformats.org/drawingml/2006/main">
              <a:ext uri="{FF2B5EF4-FFF2-40B4-BE49-F238E27FC236}">
                <a16:creationId xmlns:a16="http://schemas.microsoft.com/office/drawing/2014/main" id="{AEADAE85-397D-494C-A688-E764982E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6222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新旧密码登录</a:t>
            </a:r>
          </a:p>
        </p:txBody>
      </p:sp>
      <p:sp>
        <p:nvSpPr>
          <p:cNvPr id="88" name="diagram-arrow-55">
            <a:extLst xmlns:a="http://schemas.openxmlformats.org/drawingml/2006/main">
              <a:ext uri="{FF2B5EF4-FFF2-40B4-BE49-F238E27FC236}">
                <a16:creationId xmlns:a16="http://schemas.microsoft.com/office/drawing/2014/main" id="{175A5F80-C049-4A2D-914F-90010B38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28384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89" name="diagram-arrow-56">
            <a:extLst xmlns:a="http://schemas.openxmlformats.org/drawingml/2006/main">
              <a:ext uri="{FF2B5EF4-FFF2-40B4-BE49-F238E27FC236}">
                <a16:creationId xmlns:a16="http://schemas.microsoft.com/office/drawing/2014/main" id="{BCA0E6A8-BF43-465F-AC5A-2F28E962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28384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90" name="redesign-57">
            <a:extLst xmlns:a="http://schemas.openxmlformats.org/drawingml/2006/main">
              <a:ext uri="{FF2B5EF4-FFF2-40B4-BE49-F238E27FC236}">
                <a16:creationId xmlns:a16="http://schemas.microsoft.com/office/drawing/2014/main" id="{95A8F37E-3DBA-4ED7-8D40-B40C3F8D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38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使用正确旧密码</a:t>
            </a:r>
          </a:p>
          <a:p xmlns:a="http://schemas.openxmlformats.org/drawingml/2006/main">
            <a:pPr algn="l">
              <a:defRPr sz="195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提交 new-secret-456</a:t>
            </a:r>
          </a:p>
        </p:txBody>
      </p:sp>
      <p:sp>
        <p:nvSpPr>
          <p:cNvPr id="91" name="redesign-58">
            <a:extLst xmlns:a="http://schemas.openxmlformats.org/drawingml/2006/main">
              <a:ext uri="{FF2B5EF4-FFF2-40B4-BE49-F238E27FC236}">
                <a16:creationId xmlns:a16="http://schemas.microsoft.com/office/drawing/2014/main" id="{5F533CAC-FCC4-48D8-A2CD-75FDCE78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38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响应 204</a:t>
            </a:r>
          </a:p>
          <a:p xmlns:a="http://schemas.openxmlformats.org/drawingml/2006/main">
            <a:pPr algn="l">
              <a:defRPr sz="195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密码更新完成</a:t>
            </a:r>
          </a:p>
        </p:txBody>
      </p:sp>
      <p:sp>
        <p:nvSpPr>
          <p:cNvPr id="92" name="redesign-59">
            <a:extLst xmlns:a="http://schemas.openxmlformats.org/drawingml/2006/main">
              <a:ext uri="{FF2B5EF4-FFF2-40B4-BE49-F238E27FC236}">
                <a16:creationId xmlns:a16="http://schemas.microsoft.com/office/drawing/2014/main" id="{B6C45203-FDEF-49D2-8867-B38C30AB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38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旧密码 → 401</a:t>
            </a:r>
          </a:p>
          <a:p xmlns:a="http://schemas.openxmlformats.org/drawingml/2006/main">
            <a:pPr algn="l">
              <a:defRPr sz="210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新密码 → 200</a:t>
            </a:r>
          </a:p>
        </p:txBody>
      </p:sp>
      <p:sp>
        <p:nvSpPr>
          <p:cNvPr id="93" name="redesign-60">
            <a:extLst xmlns:a="http://schemas.openxmlformats.org/drawingml/2006/main">
              <a:ext uri="{FF2B5EF4-FFF2-40B4-BE49-F238E27FC236}">
                <a16:creationId xmlns:a16="http://schemas.microsoft.com/office/drawing/2014/main" id="{CA16141D-E500-4280-A11D-C249E52A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81600"/>
            <a:ext cx="1004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断言同时检查：返回码、凭证变更、后续登录状态。</a:t>
            </a:r>
          </a:p>
        </p:txBody>
      </p:sp>
    </p:spTree>
    <p:extLst>
      <p:ext uri="{BB962C8B-B14F-4D97-AF65-F5344CB8AC3E}">
        <p14:creationId xmlns:p14="http://schemas.microsoft.com/office/powerpoint/2010/main" val="11764932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62879-C115-4CF5-85DF-D0E7E21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902970"/>
            <a:ext cx="6209030" cy="10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>
            <a:solidFill>
              <a:srgbClr val="0070C0"/>
            </a:solidFill>
          </a:ln>
        </p:spPr>
      </p:sp>
      <p:cxnSp>
        <p:nvCxnSpPr>
          <p:cNvPr id="99" name="Line 3"/>
          <p:cNvCxnSpPr/>
          <p:nvPr/>
        </p:nvCxnSpPr>
        <p:spPr>
          <a:xfrm xmlns:a="http://schemas.openxmlformats.org/drawingml/2006/main">
            <a:off x="815340" y="902970"/>
            <a:ext cx="10610850" cy="0"/>
          </a:xfrm>
          <a:prstGeom xmlns:a="http://schemas.openxmlformats.org/drawingml/2006/main" prst="straightConnector1">
            <a:avLst/>
          </a:prstGeom>
          <a:ln xmlns:a="http://schemas.openxmlformats.org/drawingml/2006/main" w="13546">
            <a:solidFill>
              <a:srgbClr val="0070C0"/>
            </a:solidFill>
          </a:ln>
        </p:spPr>
      </p:cxnSp>
      <p:sp>
        <p:nvSpPr>
          <p:cNvPr id="5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87854E-F01F-4AF8-AEAC-E03B771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" y="5967730"/>
            <a:ext cx="10179050" cy="6019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solidFill>
              <a:srgbClr val="D9D9D9"/>
            </a:solidFill>
          </a:ln>
        </p:spPr>
      </p:sp>
      <p:sp>
        <p:nvSpPr>
          <p:cNvPr id="6" name="矩形 93">
            <a:extLst xmlns:a="http://schemas.openxmlformats.org/drawingml/2006/main">
              <a:ext uri="{FF2B5EF4-FFF2-40B4-BE49-F238E27FC236}">
                <a16:creationId xmlns:a16="http://schemas.microsoft.com/office/drawing/2014/main" id="{CB23AD9A-F809-4AB4-8E97-5F35599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836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7" name="矩形 93-2">
            <a:extLst xmlns:a="http://schemas.openxmlformats.org/drawingml/2006/main">
              <a:ext uri="{FF2B5EF4-FFF2-40B4-BE49-F238E27FC236}">
                <a16:creationId xmlns:a16="http://schemas.microsoft.com/office/drawing/2014/main" id="{A1C4BA7B-2A16-499C-9320-93D91D1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98200" y="634238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1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C515D-92B5-45B9-8F11-6AA36F5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64ECBB-2A05-42CF-ADE7-6C35D65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8EA95D-C5D2-490B-9C48-BD2539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97066-DCEB-446E-BBF8-4EACCD0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F326D8-4702-49E4-BAA5-46E48CE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F0CE849-FC5F-4CF1-9224-282B65F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9605D9-58CB-4781-B463-D1577D5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8D89FF-B864-44F7-AA74-A4E6897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E45F801-297F-4147-B3C2-F26DD3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1675BB2-8622-4423-A3B7-5711CED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23ADDAB-683A-47F1-8589-3C9D216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9AC41DE-2DFC-4C03-B709-B59D276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44BEC1-F352-4A9D-8C65-08762DD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500711-0474-4C40-B442-F30EED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117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ead01a5fd4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redesign-13">
            <a:extLst xmlns:a="http://schemas.openxmlformats.org/drawingml/2006/main">
              <a:ext uri="{FF2B5EF4-FFF2-40B4-BE49-F238E27FC236}">
                <a16:creationId xmlns:a16="http://schemas.microsoft.com/office/drawing/2014/main" id="{D3F90062-0956-44B5-A845-6600C632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857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自动化执行流程</a:t>
            </a:r>
          </a:p>
        </p:txBody>
      </p:sp>
      <p:sp>
        <p:nvSpPr>
          <p:cNvPr id="82" name="redesign-14">
            <a:extLst xmlns:a="http://schemas.openxmlformats.org/drawingml/2006/main">
              <a:ext uri="{FF2B5EF4-FFF2-40B4-BE49-F238E27FC236}">
                <a16:creationId xmlns:a16="http://schemas.microsoft.com/office/drawing/2014/main" id="{DB591099-D57C-48AA-A19F-936F1A2B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0293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5C4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0075C4"/>
                </a:solidFill>
                <a:latin typeface="Heiti SC"/>
                <a:ea typeface="Heiti SC"/>
                <a:cs typeface="Heiti SC"/>
              </a:rPr>
              <a:t>隔离数据、固定范围，并保留每次执行证据</a:t>
            </a:r>
          </a:p>
        </p:txBody>
      </p:sp>
      <p:sp>
        <p:nvSpPr>
          <p:cNvPr id="83" name="redesign-15">
            <a:extLst xmlns:a="http://schemas.openxmlformats.org/drawingml/2006/main">
              <a:ext uri="{FF2B5EF4-FFF2-40B4-BE49-F238E27FC236}">
                <a16:creationId xmlns:a16="http://schemas.microsoft.com/office/drawing/2014/main" id="{162CBD83-BD5B-4D92-9DC6-4515EB88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5</a:t>
            </a:r>
          </a:p>
        </p:txBody>
      </p:sp>
      <p:sp>
        <p:nvSpPr>
          <p:cNvPr id="84" name="redesign-61">
            <a:extLst xmlns:a="http://schemas.openxmlformats.org/drawingml/2006/main">
              <a:ext uri="{FF2B5EF4-FFF2-40B4-BE49-F238E27FC236}">
                <a16:creationId xmlns:a16="http://schemas.microsoft.com/office/drawing/2014/main" id="{8F75C874-74B5-4B5B-9D1E-A3164AC2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239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pytest + FastAPI TestClient</a:t>
            </a:r>
          </a:p>
        </p:txBody>
      </p:sp>
      <p:sp>
        <p:nvSpPr>
          <p:cNvPr id="85" name="diagram-node-62">
            <a:extLst xmlns:a="http://schemas.openxmlformats.org/drawingml/2006/main">
              <a:ext uri="{FF2B5EF4-FFF2-40B4-BE49-F238E27FC236}">
                <a16:creationId xmlns:a16="http://schemas.microsoft.com/office/drawing/2014/main" id="{AAB7F07C-BD45-4D55-98CD-898B2AFD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准备隔离数据库</a:t>
            </a:r>
          </a:p>
        </p:txBody>
      </p:sp>
      <p:sp>
        <p:nvSpPr>
          <p:cNvPr id="86" name="diagram-arrow-63">
            <a:extLst xmlns:a="http://schemas.openxmlformats.org/drawingml/2006/main">
              <a:ext uri="{FF2B5EF4-FFF2-40B4-BE49-F238E27FC236}">
                <a16:creationId xmlns:a16="http://schemas.microsoft.com/office/drawing/2014/main" id="{0455E2C2-60AE-4048-A223-B9C25883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27432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87" name="diagram-node-64">
            <a:extLst xmlns:a="http://schemas.openxmlformats.org/drawingml/2006/main">
              <a:ext uri="{FF2B5EF4-FFF2-40B4-BE49-F238E27FC236}">
                <a16:creationId xmlns:a16="http://schemas.microsoft.com/office/drawing/2014/main" id="{1AB476F5-53E2-45DF-A1F4-49783224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574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发送接口请求</a:t>
            </a:r>
          </a:p>
        </p:txBody>
      </p:sp>
      <p:sp>
        <p:nvSpPr>
          <p:cNvPr id="88" name="diagram-arrow-65">
            <a:extLst xmlns:a="http://schemas.openxmlformats.org/drawingml/2006/main">
              <a:ext uri="{FF2B5EF4-FFF2-40B4-BE49-F238E27FC236}">
                <a16:creationId xmlns:a16="http://schemas.microsoft.com/office/drawing/2014/main" id="{355A2824-FEDE-4712-841D-237C35DC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7432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89" name="diagram-node-66">
            <a:extLst xmlns:a="http://schemas.openxmlformats.org/drawingml/2006/main">
              <a:ext uri="{FF2B5EF4-FFF2-40B4-BE49-F238E27FC236}">
                <a16:creationId xmlns:a16="http://schemas.microsoft.com/office/drawing/2014/main" id="{DB0A3376-0F9A-44E8-865D-36C96FEF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574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断言并清理</a:t>
            </a:r>
          </a:p>
        </p:txBody>
      </p:sp>
      <p:sp>
        <p:nvSpPr>
          <p:cNvPr id="90" name="diagram-arrow-67">
            <a:extLst xmlns:a="http://schemas.openxmlformats.org/drawingml/2006/main">
              <a:ext uri="{FF2B5EF4-FFF2-40B4-BE49-F238E27FC236}">
                <a16:creationId xmlns:a16="http://schemas.microsoft.com/office/drawing/2014/main" id="{3FF5255B-AC28-491F-A9FF-0F717118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2743200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91" name="diagram-node-68">
            <a:extLst xmlns:a="http://schemas.openxmlformats.org/drawingml/2006/main">
              <a:ext uri="{FF2B5EF4-FFF2-40B4-BE49-F238E27FC236}">
                <a16:creationId xmlns:a16="http://schemas.microsoft.com/office/drawing/2014/main" id="{4CE3BF04-1CE5-497F-91E5-98911E2B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574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保存日志与XML</a:t>
            </a:r>
          </a:p>
        </p:txBody>
      </p:sp>
      <p:sp>
        <p:nvSpPr>
          <p:cNvPr id="92" name="redesign-69">
            <a:extLst xmlns:a="http://schemas.openxmlformats.org/drawingml/2006/main">
              <a:ext uri="{FF2B5EF4-FFF2-40B4-BE49-F238E27FC236}">
                <a16:creationId xmlns:a16="http://schemas.microsoft.com/office/drawing/2014/main" id="{F1847C71-B76E-4AC2-9513-D0088736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9975"/>
            <a:ext cx="2514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fixture 建表与清表</a:t>
            </a:r>
          </a:p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覆盖 get_db</a:t>
            </a:r>
          </a:p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StaticPool 共享连接</a:t>
            </a:r>
          </a:p>
        </p:txBody>
      </p:sp>
      <p:sp>
        <p:nvSpPr>
          <p:cNvPr id="93" name="redesign-70">
            <a:extLst xmlns:a="http://schemas.openxmlformats.org/drawingml/2006/main">
              <a:ext uri="{FF2B5EF4-FFF2-40B4-BE49-F238E27FC236}">
                <a16:creationId xmlns:a16="http://schemas.microsoft.com/office/drawing/2014/main" id="{1EE5EF0E-EEAC-45D4-9C2E-CCFBFF0C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09975"/>
            <a:ext cx="2505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认证13条</a:t>
            </a:r>
          </a:p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个人信息7条</a:t>
            </a:r>
          </a:p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血压记录10条</a:t>
            </a:r>
          </a:p>
        </p:txBody>
      </p:sp>
      <p:sp>
        <p:nvSpPr>
          <p:cNvPr id="94" name="redesign-71">
            <a:extLst xmlns:a="http://schemas.openxmlformats.org/drawingml/2006/main">
              <a:ext uri="{FF2B5EF4-FFF2-40B4-BE49-F238E27FC236}">
                <a16:creationId xmlns:a16="http://schemas.microsoft.com/office/drawing/2014/main" id="{9B989DF1-4353-4817-AD2C-3374CB6D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9975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检查响应与状态</a:t>
            </a:r>
          </a:p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每条用例隔离</a:t>
            </a:r>
          </a:p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失败返回非零</a:t>
            </a:r>
          </a:p>
        </p:txBody>
      </p:sp>
      <p:sp>
        <p:nvSpPr>
          <p:cNvPr id="95" name="redesign-72">
            <a:extLst xmlns:a="http://schemas.openxmlformats.org/drawingml/2006/main">
              <a:ext uri="{FF2B5EF4-FFF2-40B4-BE49-F238E27FC236}">
                <a16:creationId xmlns:a16="http://schemas.microsoft.com/office/drawing/2014/main" id="{7B18A5B0-B59A-4F72-AD7F-2A2CA8E2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9975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默认回归30条</a:t>
            </a:r>
          </a:p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缺陷专项3条</a:t>
            </a:r>
          </a:p>
          <a:p xmlns:a="http://schemas.openxmlformats.org/drawingml/2006/main">
            <a:pPr algn="l">
              <a:defRPr sz="18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各自保存执行证据</a:t>
            </a:r>
          </a:p>
        </p:txBody>
      </p:sp>
      <p:sp>
        <p:nvSpPr>
          <p:cNvPr id="96" name="redesign-73">
            <a:extLst xmlns:a="http://schemas.openxmlformats.org/drawingml/2006/main">
              <a:ext uri="{FF2B5EF4-FFF2-40B4-BE49-F238E27FC236}">
                <a16:creationId xmlns:a16="http://schemas.microsoft.com/office/drawing/2014/main" id="{FCF4702A-E23A-4B85-974F-36F14FD2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默认：bash run_module1_tests.sh     专项：bash 缺陷证据/run_defect_checks.sh</a:t>
            </a:r>
          </a:p>
        </p:txBody>
      </p:sp>
      <p:sp>
        <p:nvSpPr>
          <p:cNvPr id="97" name="redesign-74">
            <a:extLst xmlns:a="http://schemas.openxmlformats.org/drawingml/2006/main">
              <a:ext uri="{FF2B5EF4-FFF2-40B4-BE49-F238E27FC236}">
                <a16:creationId xmlns:a16="http://schemas.microsoft.com/office/drawing/2014/main" id="{E382A8D4-92CF-4FD3-9A51-06A56ED6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91175"/>
            <a:ext cx="1071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5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运行前配置 backend/.venv；源码工程与交付包保持既定目录关系。</a:t>
            </a:r>
          </a:p>
        </p:txBody>
      </p:sp>
    </p:spTree>
    <p:extLst>
      <p:ext uri="{BB962C8B-B14F-4D97-AF65-F5344CB8AC3E}">
        <p14:creationId xmlns:p14="http://schemas.microsoft.com/office/powerpoint/2010/main" val="11764932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62879-C115-4CF5-85DF-D0E7E21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902970"/>
            <a:ext cx="6209030" cy="10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>
            <a:solidFill>
              <a:srgbClr val="0070C0"/>
            </a:solidFill>
          </a:ln>
        </p:spPr>
      </p:sp>
      <p:cxnSp>
        <p:nvCxnSpPr>
          <p:cNvPr id="91" name="Line 3"/>
          <p:cNvCxnSpPr/>
          <p:nvPr/>
        </p:nvCxnSpPr>
        <p:spPr>
          <a:xfrm xmlns:a="http://schemas.openxmlformats.org/drawingml/2006/main">
            <a:off x="815340" y="902970"/>
            <a:ext cx="10610850" cy="0"/>
          </a:xfrm>
          <a:prstGeom xmlns:a="http://schemas.openxmlformats.org/drawingml/2006/main" prst="straightConnector1">
            <a:avLst/>
          </a:prstGeom>
          <a:ln xmlns:a="http://schemas.openxmlformats.org/drawingml/2006/main" w="13546">
            <a:solidFill>
              <a:srgbClr val="0070C0"/>
            </a:solidFill>
          </a:ln>
        </p:spPr>
      </p:cxnSp>
      <p:sp>
        <p:nvSpPr>
          <p:cNvPr id="5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87854E-F01F-4AF8-AEAC-E03B771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" y="5967730"/>
            <a:ext cx="10179050" cy="6019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solidFill>
              <a:srgbClr val="D9D9D9"/>
            </a:solidFill>
          </a:ln>
        </p:spPr>
      </p:sp>
      <p:sp>
        <p:nvSpPr>
          <p:cNvPr id="6" name="矩形 93">
            <a:extLst xmlns:a="http://schemas.openxmlformats.org/drawingml/2006/main">
              <a:ext uri="{FF2B5EF4-FFF2-40B4-BE49-F238E27FC236}">
                <a16:creationId xmlns:a16="http://schemas.microsoft.com/office/drawing/2014/main" id="{CB23AD9A-F809-4AB4-8E97-5F35599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836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7" name="矩形 93-2">
            <a:extLst xmlns:a="http://schemas.openxmlformats.org/drawingml/2006/main">
              <a:ext uri="{FF2B5EF4-FFF2-40B4-BE49-F238E27FC236}">
                <a16:creationId xmlns:a16="http://schemas.microsoft.com/office/drawing/2014/main" id="{A1C4BA7B-2A16-499C-9320-93D91D1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98200" y="634238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1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C515D-92B5-45B9-8F11-6AA36F5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64ECBB-2A05-42CF-ADE7-6C35D65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8EA95D-C5D2-490B-9C48-BD2539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97066-DCEB-446E-BBF8-4EACCD0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F326D8-4702-49E4-BAA5-46E48CE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F0CE849-FC5F-4CF1-9224-282B65F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9605D9-58CB-4781-B463-D1577D5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8D89FF-B864-44F7-AA74-A4E6897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E45F801-297F-4147-B3C2-F26DD3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1675BB2-8622-4423-A3B7-5711CED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23ADDAB-683A-47F1-8589-3C9D216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9AC41DE-2DFC-4C03-B709-B59D276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44BEC1-F352-4A9D-8C65-08762DD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500711-0474-4C40-B442-F30EED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109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2d468f4a34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redesign-16">
            <a:extLst xmlns:a="http://schemas.openxmlformats.org/drawingml/2006/main">
              <a:ext uri="{FF2B5EF4-FFF2-40B4-BE49-F238E27FC236}">
                <a16:creationId xmlns:a16="http://schemas.microsoft.com/office/drawing/2014/main" id="{33A8AACC-9FFC-4CA1-9678-BFC5556A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857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执行结果与缺陷概览</a:t>
            </a:r>
          </a:p>
        </p:txBody>
      </p:sp>
      <p:sp>
        <p:nvSpPr>
          <p:cNvPr id="82" name="redesign-17">
            <a:extLst xmlns:a="http://schemas.openxmlformats.org/drawingml/2006/main">
              <a:ext uri="{FF2B5EF4-FFF2-40B4-BE49-F238E27FC236}">
                <a16:creationId xmlns:a16="http://schemas.microsoft.com/office/drawing/2014/main" id="{012D9315-A126-4849-9D51-A629A84A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0293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5C4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0075C4"/>
                </a:solidFill>
                <a:latin typeface="Heiti SC"/>
                <a:ea typeface="Heiti SC"/>
                <a:cs typeface="Heiti SC"/>
              </a:rPr>
              <a:t>原用例全部通过，仍可能遗漏特殊输入组合</a:t>
            </a:r>
          </a:p>
        </p:txBody>
      </p:sp>
      <p:sp>
        <p:nvSpPr>
          <p:cNvPr id="83" name="redesign-18">
            <a:extLst xmlns:a="http://schemas.openxmlformats.org/drawingml/2006/main">
              <a:ext uri="{FF2B5EF4-FFF2-40B4-BE49-F238E27FC236}">
                <a16:creationId xmlns:a16="http://schemas.microsoft.com/office/drawing/2014/main" id="{310916BD-D793-4347-846F-625D65EA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6</a:t>
            </a:r>
          </a:p>
        </p:txBody>
      </p:sp>
      <p:sp>
        <p:nvSpPr>
          <p:cNvPr id="84" name="redesign-75">
            <a:extLst xmlns:a="http://schemas.openxmlformats.org/drawingml/2006/main">
              <a:ext uri="{FF2B5EF4-FFF2-40B4-BE49-F238E27FC236}">
                <a16:creationId xmlns:a16="http://schemas.microsoft.com/office/drawing/2014/main" id="{4A6EC9C9-D306-4ED7-9FEE-3F2309ED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81125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645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30 / 30</a:t>
            </a:r>
          </a:p>
        </p:txBody>
      </p:sp>
      <p:sp>
        <p:nvSpPr>
          <p:cNvPr id="85" name="redesign-76">
            <a:extLst xmlns:a="http://schemas.openxmlformats.org/drawingml/2006/main">
              <a:ext uri="{FF2B5EF4-FFF2-40B4-BE49-F238E27FC236}">
                <a16:creationId xmlns:a16="http://schemas.microsoft.com/office/drawing/2014/main" id="{75857A2A-22FB-46C3-BD06-CE9B56FD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574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原功能回归通过</a:t>
            </a:r>
          </a:p>
        </p:txBody>
      </p:sp>
      <p:sp>
        <p:nvSpPr>
          <p:cNvPr id="86" name="redesign-77">
            <a:extLst xmlns:a="http://schemas.openxmlformats.org/drawingml/2006/main">
              <a:ext uri="{FF2B5EF4-FFF2-40B4-BE49-F238E27FC236}">
                <a16:creationId xmlns:a16="http://schemas.microsoft.com/office/drawing/2014/main" id="{DDBC67E9-6A04-4042-91DF-E182FB16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认证13  +  个人信息7  +  血压记录10</a:t>
            </a:r>
          </a:p>
          <a:p xmlns:a="http://schemas.openxmlformats.org/drawingml/2006/main">
            <a:pPr algn="l">
              <a:defRPr sz="187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2026-09-12保存日志，7.20秒</a:t>
            </a:r>
          </a:p>
        </p:txBody>
      </p:sp>
      <p:sp>
        <p:nvSpPr>
          <p:cNvPr id="87" name="redesign-78">
            <a:extLst xmlns:a="http://schemas.openxmlformats.org/drawingml/2006/main">
              <a:ext uri="{FF2B5EF4-FFF2-40B4-BE49-F238E27FC236}">
                <a16:creationId xmlns:a16="http://schemas.microsoft.com/office/drawing/2014/main" id="{BF0DF02B-1901-417B-B0CF-75132360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447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定向检查发现3个缺陷</a:t>
            </a:r>
          </a:p>
        </p:txBody>
      </p:sp>
      <p:graphicFrame>
        <p:nvGraphicFramePr>
          <p:cNvPr id="117" name=""/>
          <p:cNvGraphicFramePr/>
          <p:nvPr/>
        </p:nvGraphicFramePr>
        <p:xfrm>
          <a:off xmlns:a="http://schemas.openxmlformats.org/drawingml/2006/main" x="6191250" y="2286000"/>
          <a:ext xmlns:a="http://schemas.openxmlformats.org/drawingml/2006/main" cx="5000625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2571750"/>
                <a:gridCol w="857250"/>
              </a:tblGrid>
              <a:tr h="6619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缺陷</a:t>
                      </a:r>
                    </a:p>
                  </a:txBody>
                  <a:tcPr marL="95250" marR="95250" marT="13335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现象</a:t>
                      </a:r>
                    </a:p>
                  </a:txBody>
                  <a:tcPr marL="95250" marR="95250" marT="13335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程度</a:t>
                      </a:r>
                    </a:p>
                  </a:txBody>
                  <a:tcPr marL="95250" marR="95250" marT="133350" marB="114300">
                    <a:solidFill>
                      <a:srgbClr val="4472C4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/>
                          <a:ea typeface="Heiti SC"/>
                          <a:cs typeface="Heiti SC"/>
                        </a:rPr>
                        <a:t>D01 长密码</a:t>
                      </a: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/>
                          <a:ea typeface="Heiti SC"/>
                          <a:cs typeface="Heiti SC"/>
                        </a:rPr>
                        <a:t>错误后缀仍可登录</a:t>
                      </a: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/>
                          <a:ea typeface="Heiti SC"/>
                          <a:cs typeface="Heiti SC"/>
                        </a:rPr>
                        <a:t>高</a:t>
                      </a: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/>
                          <a:ea typeface="Heiti SC"/>
                          <a:cs typeface="Heiti SC"/>
                        </a:rPr>
                        <a:t>D02 必填空值</a:t>
                      </a:r>
                    </a:p>
                  </a:txBody>
                  <a:tcPr marL="95250" marR="95250" marT="133350" marB="11430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/>
                          <a:ea typeface="Heiti SC"/>
                          <a:cs typeface="Heiti SC"/>
                        </a:rPr>
                        <a:t>显式null返回500</a:t>
                      </a:r>
                    </a:p>
                  </a:txBody>
                  <a:tcPr marL="95250" marR="95250" marT="133350" marB="11430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/>
                          <a:ea typeface="Heiti SC"/>
                          <a:cs typeface="Heiti SC"/>
                        </a:rPr>
                        <a:t>中</a:t>
                      </a:r>
                    </a:p>
                  </a:txBody>
                  <a:tcPr marL="95250" marR="95250" marT="133350" marB="114300">
                    <a:solidFill>
                      <a:srgbClr val="EDF3FA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/>
                          <a:ea typeface="Heiti SC"/>
                          <a:cs typeface="Heiti SC"/>
                        </a:rPr>
                        <a:t>D03 时间查询</a:t>
                      </a: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/>
                          <a:ea typeface="Heiti SC"/>
                          <a:cs typeface="Heiti SC"/>
                        </a:rPr>
                        <a:t>等价时区结果不同</a:t>
                      </a: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/>
                          <a:ea typeface="Heiti SC"/>
                          <a:cs typeface="Heiti SC"/>
                        </a:rPr>
                        <a:t>中</a:t>
                      </a: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" name="redesign-79">
            <a:extLst xmlns:a="http://schemas.openxmlformats.org/drawingml/2006/main">
              <a:ext uri="{FF2B5EF4-FFF2-40B4-BE49-F238E27FC236}">
                <a16:creationId xmlns:a16="http://schemas.microsoft.com/office/drawing/2014/main" id="{9311663F-38D2-4EA2-BB4D-80DCA88D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87564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287564"/>
                </a:solidFill>
                <a:latin typeface="Heiti SC"/>
                <a:ea typeface="Heiti SC"/>
                <a:cs typeface="Heiti SC"/>
              </a:rPr>
              <a:t>专项修复验证：3 / 3通过，独立于默认30条。</a:t>
            </a:r>
          </a:p>
        </p:txBody>
      </p:sp>
    </p:spTree>
    <p:extLst>
      <p:ext uri="{BB962C8B-B14F-4D97-AF65-F5344CB8AC3E}">
        <p14:creationId xmlns:p14="http://schemas.microsoft.com/office/powerpoint/2010/main" val="11764932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62879-C115-4CF5-85DF-D0E7E21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902970"/>
            <a:ext cx="6209030" cy="10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>
            <a:solidFill>
              <a:srgbClr val="0070C0"/>
            </a:solidFill>
          </a:ln>
        </p:spPr>
      </p:sp>
      <p:cxnSp>
        <p:nvCxnSpPr>
          <p:cNvPr id="97" name="Line 3"/>
          <p:cNvCxnSpPr/>
          <p:nvPr/>
        </p:nvCxnSpPr>
        <p:spPr>
          <a:xfrm xmlns:a="http://schemas.openxmlformats.org/drawingml/2006/main">
            <a:off x="815340" y="902970"/>
            <a:ext cx="10610850" cy="0"/>
          </a:xfrm>
          <a:prstGeom xmlns:a="http://schemas.openxmlformats.org/drawingml/2006/main" prst="straightConnector1">
            <a:avLst/>
          </a:prstGeom>
          <a:ln xmlns:a="http://schemas.openxmlformats.org/drawingml/2006/main" w="13546">
            <a:solidFill>
              <a:srgbClr val="0070C0"/>
            </a:solidFill>
          </a:ln>
        </p:spPr>
      </p:cxnSp>
      <p:sp>
        <p:nvSpPr>
          <p:cNvPr id="5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87854E-F01F-4AF8-AEAC-E03B771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" y="5967730"/>
            <a:ext cx="10179050" cy="6019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solidFill>
              <a:srgbClr val="D9D9D9"/>
            </a:solidFill>
          </a:ln>
        </p:spPr>
      </p:sp>
      <p:sp>
        <p:nvSpPr>
          <p:cNvPr id="6" name="矩形 93">
            <a:extLst xmlns:a="http://schemas.openxmlformats.org/drawingml/2006/main">
              <a:ext uri="{FF2B5EF4-FFF2-40B4-BE49-F238E27FC236}">
                <a16:creationId xmlns:a16="http://schemas.microsoft.com/office/drawing/2014/main" id="{CB23AD9A-F809-4AB4-8E97-5F35599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836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7" name="矩形 93-2">
            <a:extLst xmlns:a="http://schemas.openxmlformats.org/drawingml/2006/main">
              <a:ext uri="{FF2B5EF4-FFF2-40B4-BE49-F238E27FC236}">
                <a16:creationId xmlns:a16="http://schemas.microsoft.com/office/drawing/2014/main" id="{A1C4BA7B-2A16-499C-9320-93D91D1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98200" y="634238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1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C515D-92B5-45B9-8F11-6AA36F5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64ECBB-2A05-42CF-ADE7-6C35D65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8EA95D-C5D2-490B-9C48-BD2539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97066-DCEB-446E-BBF8-4EACCD0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F326D8-4702-49E4-BAA5-46E48CE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F0CE849-FC5F-4CF1-9224-282B65F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9605D9-58CB-4781-B463-D1577D5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8D89FF-B864-44F7-AA74-A4E6897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E45F801-297F-4147-B3C2-F26DD3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1675BB2-8622-4423-A3B7-5711CED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23ADDAB-683A-47F1-8589-3C9D216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9AC41DE-2DFC-4C03-B709-B59D276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44BEC1-F352-4A9D-8C65-08762DD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500711-0474-4C40-B442-F30EED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115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04c8771d2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redesign-19">
            <a:extLst xmlns:a="http://schemas.openxmlformats.org/drawingml/2006/main">
              <a:ext uri="{FF2B5EF4-FFF2-40B4-BE49-F238E27FC236}">
                <a16:creationId xmlns:a16="http://schemas.microsoft.com/office/drawing/2014/main" id="{6E662AD4-34DC-41C5-8DD1-4ED1484B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857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密码与空值缺陷</a:t>
            </a:r>
          </a:p>
        </p:txBody>
      </p:sp>
      <p:sp>
        <p:nvSpPr>
          <p:cNvPr id="82" name="redesign-20">
            <a:extLst xmlns:a="http://schemas.openxmlformats.org/drawingml/2006/main">
              <a:ext uri="{FF2B5EF4-FFF2-40B4-BE49-F238E27FC236}">
                <a16:creationId xmlns:a16="http://schemas.microsoft.com/office/drawing/2014/main" id="{41532487-DCAE-484E-A52A-367D30F6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0293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5C4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0075C4"/>
                </a:solidFill>
                <a:latin typeface="Heiti SC"/>
                <a:ea typeface="Heiti SC"/>
                <a:cs typeface="Heiti SC"/>
              </a:rPr>
              <a:t>修复后既验证拒绝非法输入，也验证正常行为</a:t>
            </a:r>
          </a:p>
        </p:txBody>
      </p:sp>
      <p:sp>
        <p:nvSpPr>
          <p:cNvPr id="83" name="redesign-21">
            <a:extLst xmlns:a="http://schemas.openxmlformats.org/drawingml/2006/main">
              <a:ext uri="{FF2B5EF4-FFF2-40B4-BE49-F238E27FC236}">
                <a16:creationId xmlns:a16="http://schemas.microsoft.com/office/drawing/2014/main" id="{93C882B5-5A32-48FB-AF89-832F81CB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7</a:t>
            </a:r>
          </a:p>
        </p:txBody>
      </p:sp>
      <p:sp>
        <p:nvSpPr>
          <p:cNvPr id="84" name="redesign-80">
            <a:extLst xmlns:a="http://schemas.openxmlformats.org/drawingml/2006/main">
              <a:ext uri="{FF2B5EF4-FFF2-40B4-BE49-F238E27FC236}">
                <a16:creationId xmlns:a16="http://schemas.microsoft.com/office/drawing/2014/main" id="{8DFFDF78-EC16-4AD0-9D72-FB664E94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906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D01  长密码后缀</a:t>
            </a:r>
          </a:p>
        </p:txBody>
      </p:sp>
      <p:sp>
        <p:nvSpPr>
          <p:cNvPr id="85" name="redesign-81">
            <a:extLst xmlns:a="http://schemas.openxmlformats.org/drawingml/2006/main">
              <a:ext uri="{FF2B5EF4-FFF2-40B4-BE49-F238E27FC236}">
                <a16:creationId xmlns:a16="http://schemas.microsoft.com/office/drawing/2014/main" id="{F4F8413E-84B6-4D1B-B5A8-6B770804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9065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D02  必填字段置空</a:t>
            </a:r>
          </a:p>
        </p:txBody>
      </p:sp>
      <p:sp>
        <p:nvSpPr>
          <p:cNvPr id="86" name="redesign-82">
            <a:extLst xmlns:a="http://schemas.openxmlformats.org/drawingml/2006/main">
              <a:ext uri="{FF2B5EF4-FFF2-40B4-BE49-F238E27FC236}">
                <a16:creationId xmlns:a16="http://schemas.microsoft.com/office/drawing/2014/main" id="{4775B0CB-3DF6-45B3-A447-FE93E2E3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52650"/>
            <a:ext cx="466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A×72 + X  注册</a:t>
            </a:r>
          </a:p>
          <a:p xmlns:a="http://schemas.openxmlformats.org/drawingml/2006/main">
            <a:pPr algn="l">
              <a:defRPr sz="24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A×72 + Y  登录</a:t>
            </a:r>
          </a:p>
        </p:txBody>
      </p:sp>
      <p:sp>
        <p:nvSpPr>
          <p:cNvPr id="87" name="redesign-83">
            <a:extLst xmlns:a="http://schemas.openxmlformats.org/drawingml/2006/main">
              <a:ext uri="{FF2B5EF4-FFF2-40B4-BE49-F238E27FC236}">
                <a16:creationId xmlns:a16="http://schemas.microsoft.com/office/drawing/2014/main" id="{09DDAB91-7650-4903-B30A-6A9B4C3A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systolic = null</a:t>
            </a:r>
          </a:p>
          <a:p xmlns:a="http://schemas.openxmlformats.org/drawingml/2006/main">
            <a:pPr algn="l">
              <a:defRPr sz="24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PATCH 血压记录</a:t>
            </a:r>
          </a:p>
        </p:txBody>
      </p:sp>
      <p:sp>
        <p:nvSpPr>
          <p:cNvPr id="88" name="redesign-84">
            <a:extLst xmlns:a="http://schemas.openxmlformats.org/drawingml/2006/main">
              <a:ext uri="{FF2B5EF4-FFF2-40B4-BE49-F238E27FC236}">
                <a16:creationId xmlns:a16="http://schemas.microsoft.com/office/drawing/2014/main" id="{B7ACD796-576A-4502-ACC5-D7287A13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575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1463C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B1463C"/>
                </a:solidFill>
                <a:latin typeface="Heiti SC"/>
                <a:ea typeface="Heiti SC"/>
                <a:cs typeface="Heiti SC"/>
              </a:rPr>
              <a:t>修复前：错误后缀返回200</a:t>
            </a:r>
          </a:p>
        </p:txBody>
      </p:sp>
      <p:sp>
        <p:nvSpPr>
          <p:cNvPr id="89" name="redesign-85">
            <a:extLst xmlns:a="http://schemas.openxmlformats.org/drawingml/2006/main">
              <a:ext uri="{FF2B5EF4-FFF2-40B4-BE49-F238E27FC236}">
                <a16:creationId xmlns:a16="http://schemas.microsoft.com/office/drawing/2014/main" id="{0551AB73-B178-4D25-A299-8F0812E3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1463C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B1463C"/>
                </a:solidFill>
                <a:latin typeface="Heiti SC"/>
                <a:ea typeface="Heiti SC"/>
                <a:cs typeface="Heiti SC"/>
              </a:rPr>
              <a:t>修复前：数据库约束触发500</a:t>
            </a:r>
          </a:p>
        </p:txBody>
      </p:sp>
      <p:sp>
        <p:nvSpPr>
          <p:cNvPr id="90" name="redesign-86">
            <a:extLst xmlns:a="http://schemas.openxmlformats.org/drawingml/2006/main">
              <a:ext uri="{FF2B5EF4-FFF2-40B4-BE49-F238E27FC236}">
                <a16:creationId xmlns:a16="http://schemas.microsoft.com/office/drawing/2014/main" id="{787BABFF-9A30-471B-8F4F-C46E48F5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95725"/>
            <a:ext cx="4905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bcrypt只处理前72字节</a:t>
            </a:r>
          </a:p>
          <a:p xmlns:a="http://schemas.openxmlformats.org/drawingml/2006/main">
            <a:pPr algn="l">
              <a:defRPr sz="202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改为 bcrypt_sha256</a:t>
            </a:r>
          </a:p>
        </p:txBody>
      </p:sp>
      <p:sp>
        <p:nvSpPr>
          <p:cNvPr id="91" name="redesign-87">
            <a:extLst xmlns:a="http://schemas.openxmlformats.org/drawingml/2006/main">
              <a:ext uri="{FF2B5EF4-FFF2-40B4-BE49-F238E27FC236}">
                <a16:creationId xmlns:a16="http://schemas.microsoft.com/office/drawing/2014/main" id="{50263C69-6ED0-4F0A-B7C6-E61FECA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957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区分省略与显式null</a:t>
            </a:r>
          </a:p>
          <a:p xmlns:a="http://schemas.openxmlformats.org/drawingml/2006/main">
            <a:pPr algn="l">
              <a:defRPr sz="202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写入前拒绝非法空值</a:t>
            </a:r>
          </a:p>
        </p:txBody>
      </p:sp>
      <p:sp>
        <p:nvSpPr>
          <p:cNvPr id="92" name="redesign-88">
            <a:extLst xmlns:a="http://schemas.openxmlformats.org/drawingml/2006/main">
              <a:ext uri="{FF2B5EF4-FFF2-40B4-BE49-F238E27FC236}">
                <a16:creationId xmlns:a16="http://schemas.microsoft.com/office/drawing/2014/main" id="{A39C9DC2-03BB-4934-9D59-A1FD474C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768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7564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287564"/>
                </a:solidFill>
                <a:latin typeface="Heiti SC"/>
                <a:ea typeface="Heiti SC"/>
                <a:cs typeface="Heiti SC"/>
              </a:rPr>
              <a:t>修复后：错误后缀401</a:t>
            </a:r>
          </a:p>
        </p:txBody>
      </p:sp>
      <p:sp>
        <p:nvSpPr>
          <p:cNvPr id="93" name="redesign-89">
            <a:extLst xmlns:a="http://schemas.openxmlformats.org/drawingml/2006/main">
              <a:ext uri="{FF2B5EF4-FFF2-40B4-BE49-F238E27FC236}">
                <a16:creationId xmlns:a16="http://schemas.microsoft.com/office/drawing/2014/main" id="{69E33D35-969D-4B16-B0D6-150155DC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7564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287564"/>
                </a:solidFill>
                <a:latin typeface="Heiti SC"/>
                <a:ea typeface="Heiti SC"/>
                <a:cs typeface="Heiti SC"/>
              </a:rPr>
              <a:t>修复后：422，原值保留</a:t>
            </a:r>
          </a:p>
        </p:txBody>
      </p:sp>
      <p:sp>
        <p:nvSpPr>
          <p:cNvPr id="94" name="redesign-90">
            <a:extLst xmlns:a="http://schemas.openxmlformats.org/drawingml/2006/main">
              <a:ext uri="{FF2B5EF4-FFF2-40B4-BE49-F238E27FC236}">
                <a16:creationId xmlns:a16="http://schemas.microsoft.com/office/drawing/2014/main" id="{F9F5283F-0B53-408C-8F40-43E8F1DD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578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5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旧长密码需重置；短旧密码保持兼容。</a:t>
            </a:r>
          </a:p>
        </p:txBody>
      </p:sp>
      <p:sp>
        <p:nvSpPr>
          <p:cNvPr id="95" name="redesign-91">
            <a:extLst xmlns:a="http://schemas.openxmlformats.org/drawingml/2006/main">
              <a:ext uri="{FF2B5EF4-FFF2-40B4-BE49-F238E27FC236}">
                <a16:creationId xmlns:a16="http://schemas.microsoft.com/office/drawing/2014/main" id="{12518973-78D3-424A-8C1C-7C5C3F30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578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5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可空字段仍可清空，正常更新保持可用。</a:t>
            </a:r>
          </a:p>
        </p:txBody>
      </p:sp>
    </p:spTree>
    <p:extLst>
      <p:ext uri="{BB962C8B-B14F-4D97-AF65-F5344CB8AC3E}">
        <p14:creationId xmlns:p14="http://schemas.microsoft.com/office/powerpoint/2010/main" val="11764932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62879-C115-4CF5-85DF-D0E7E21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902970"/>
            <a:ext cx="6209030" cy="10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>
            <a:solidFill>
              <a:srgbClr val="0070C0"/>
            </a:solidFill>
          </a:ln>
        </p:spPr>
      </p:sp>
      <p:cxnSp>
        <p:nvCxnSpPr>
          <p:cNvPr id="96" name="Line 3"/>
          <p:cNvCxnSpPr/>
          <p:nvPr/>
        </p:nvCxnSpPr>
        <p:spPr>
          <a:xfrm xmlns:a="http://schemas.openxmlformats.org/drawingml/2006/main">
            <a:off x="815340" y="902970"/>
            <a:ext cx="10610850" cy="0"/>
          </a:xfrm>
          <a:prstGeom xmlns:a="http://schemas.openxmlformats.org/drawingml/2006/main" prst="straightConnector1">
            <a:avLst/>
          </a:prstGeom>
          <a:ln xmlns:a="http://schemas.openxmlformats.org/drawingml/2006/main" w="13546">
            <a:solidFill>
              <a:srgbClr val="0070C0"/>
            </a:solidFill>
          </a:ln>
        </p:spPr>
      </p:cxnSp>
      <p:sp>
        <p:nvSpPr>
          <p:cNvPr id="5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87854E-F01F-4AF8-AEAC-E03B771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" y="5967730"/>
            <a:ext cx="10179050" cy="6019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solidFill>
              <a:srgbClr val="D9D9D9"/>
            </a:solidFill>
          </a:ln>
        </p:spPr>
      </p:sp>
      <p:sp>
        <p:nvSpPr>
          <p:cNvPr id="6" name="矩形 93">
            <a:extLst xmlns:a="http://schemas.openxmlformats.org/drawingml/2006/main">
              <a:ext uri="{FF2B5EF4-FFF2-40B4-BE49-F238E27FC236}">
                <a16:creationId xmlns:a16="http://schemas.microsoft.com/office/drawing/2014/main" id="{CB23AD9A-F809-4AB4-8E97-5F35599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836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7" name="矩形 93-2">
            <a:extLst xmlns:a="http://schemas.openxmlformats.org/drawingml/2006/main">
              <a:ext uri="{FF2B5EF4-FFF2-40B4-BE49-F238E27FC236}">
                <a16:creationId xmlns:a16="http://schemas.microsoft.com/office/drawing/2014/main" id="{A1C4BA7B-2A16-499C-9320-93D91D1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98200" y="634238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1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C515D-92B5-45B9-8F11-6AA36F5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64ECBB-2A05-42CF-ADE7-6C35D65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8EA95D-C5D2-490B-9C48-BD2539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97066-DCEB-446E-BBF8-4EACCD0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F326D8-4702-49E4-BAA5-46E48CE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F0CE849-FC5F-4CF1-9224-282B65F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9605D9-58CB-4781-B463-D1577D5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8D89FF-B864-44F7-AA74-A4E6897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E45F801-297F-4147-B3C2-F26DD3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1675BB2-8622-4423-A3B7-5711CED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23ADDAB-683A-47F1-8589-3C9D216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9AC41DE-2DFC-4C03-B709-B59D276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44BEC1-F352-4A9D-8C65-08762DD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500711-0474-4C40-B442-F30EED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11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acacb38bb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redesign-22">
            <a:extLst xmlns:a="http://schemas.openxmlformats.org/drawingml/2006/main">
              <a:ext uri="{FF2B5EF4-FFF2-40B4-BE49-F238E27FC236}">
                <a16:creationId xmlns:a16="http://schemas.microsoft.com/office/drawing/2014/main" id="{4AA11E3F-18FF-4362-A9A3-B2F9D90B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857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等价时区查询缺陷</a:t>
            </a:r>
          </a:p>
        </p:txBody>
      </p:sp>
      <p:sp>
        <p:nvSpPr>
          <p:cNvPr id="82" name="redesign-23">
            <a:extLst xmlns:a="http://schemas.openxmlformats.org/drawingml/2006/main">
              <a:ext uri="{FF2B5EF4-FFF2-40B4-BE49-F238E27FC236}">
                <a16:creationId xmlns:a16="http://schemas.microsoft.com/office/drawing/2014/main" id="{DE1B6003-EA9A-4ECB-B3FE-0BBD091B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0293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5C4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0075C4"/>
                </a:solidFill>
                <a:latin typeface="Heiti SC"/>
                <a:ea typeface="Heiti SC"/>
                <a:cs typeface="Heiti SC"/>
              </a:rPr>
              <a:t>同一实际时刻，应具有一致的存取与查询语义</a:t>
            </a:r>
          </a:p>
        </p:txBody>
      </p:sp>
      <p:sp>
        <p:nvSpPr>
          <p:cNvPr id="83" name="redesign-24">
            <a:extLst xmlns:a="http://schemas.openxmlformats.org/drawingml/2006/main">
              <a:ext uri="{FF2B5EF4-FFF2-40B4-BE49-F238E27FC236}">
                <a16:creationId xmlns:a16="http://schemas.microsoft.com/office/drawing/2014/main" id="{D00698B2-7496-4BF1-AEAF-3EC8D238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8</a:t>
            </a:r>
          </a:p>
        </p:txBody>
      </p:sp>
      <p:sp>
        <p:nvSpPr>
          <p:cNvPr id="84" name="redesign-92">
            <a:extLst xmlns:a="http://schemas.openxmlformats.org/drawingml/2006/main">
              <a:ext uri="{FF2B5EF4-FFF2-40B4-BE49-F238E27FC236}">
                <a16:creationId xmlns:a16="http://schemas.microsoft.com/office/drawing/2014/main" id="{FF2A0060-29CB-4B41-BCCC-B519B30A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430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不同表示，同一个实际时刻</a:t>
            </a:r>
          </a:p>
        </p:txBody>
      </p:sp>
      <p:sp>
        <p:nvSpPr>
          <p:cNvPr id="85" name="diagram-node-93">
            <a:extLst xmlns:a="http://schemas.openxmlformats.org/drawingml/2006/main">
              <a:ext uri="{FF2B5EF4-FFF2-40B4-BE49-F238E27FC236}">
                <a16:creationId xmlns:a16="http://schemas.microsoft.com/office/drawing/2014/main" id="{AAD48521-A2D4-4862-B2F4-D4F983B9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UTC 00:00</a:t>
            </a:r>
          </a:p>
        </p:txBody>
      </p:sp>
      <p:sp>
        <p:nvSpPr>
          <p:cNvPr id="86" name="diagram-node-94">
            <a:extLst xmlns:a="http://schemas.openxmlformats.org/drawingml/2006/main">
              <a:ext uri="{FF2B5EF4-FFF2-40B4-BE49-F238E27FC236}">
                <a16:creationId xmlns:a16="http://schemas.microsoft.com/office/drawing/2014/main" id="{81F23FCB-CDA1-4DB3-AF27-5E9122B5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+08:00 08:00</a:t>
            </a:r>
          </a:p>
        </p:txBody>
      </p:sp>
      <p:sp>
        <p:nvSpPr>
          <p:cNvPr id="87" name="diagram-arrow-95">
            <a:extLst xmlns:a="http://schemas.openxmlformats.org/drawingml/2006/main">
              <a:ext uri="{FF2B5EF4-FFF2-40B4-BE49-F238E27FC236}">
                <a16:creationId xmlns:a16="http://schemas.microsoft.com/office/drawing/2014/main" id="{FFA6B65E-4AE0-42B5-AD99-5CB594CB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647950"/>
            <a:ext cx="876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88" name="diagram-arrow-96">
            <a:extLst xmlns:a="http://schemas.openxmlformats.org/drawingml/2006/main">
              <a:ext uri="{FF2B5EF4-FFF2-40B4-BE49-F238E27FC236}">
                <a16:creationId xmlns:a16="http://schemas.microsoft.com/office/drawing/2014/main" id="{9D5F9FD8-5D4B-479A-BE0C-88955467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3971925"/>
            <a:ext cx="876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89" name="diagram-node-97">
            <a:extLst xmlns:a="http://schemas.openxmlformats.org/drawingml/2006/main">
              <a:ext uri="{FF2B5EF4-FFF2-40B4-BE49-F238E27FC236}">
                <a16:creationId xmlns:a16="http://schemas.microsoft.com/office/drawing/2014/main" id="{39202695-6FF5-4EA2-8CFC-E495B358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194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统一转换为 UTC</a:t>
            </a:r>
          </a:p>
        </p:txBody>
      </p:sp>
      <p:sp>
        <p:nvSpPr>
          <p:cNvPr id="90" name="diagram-arrow-98">
            <a:extLst xmlns:a="http://schemas.openxmlformats.org/drawingml/2006/main">
              <a:ext uri="{FF2B5EF4-FFF2-40B4-BE49-F238E27FC236}">
                <a16:creationId xmlns:a16="http://schemas.microsoft.com/office/drawing/2014/main" id="{880FB205-8B2C-4AE6-9059-174EC8B2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3286125"/>
            <a:ext cx="5810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91" name="diagram-node-99">
            <a:extLst xmlns:a="http://schemas.openxmlformats.org/drawingml/2006/main">
              <a:ext uri="{FF2B5EF4-FFF2-40B4-BE49-F238E27FC236}">
                <a16:creationId xmlns:a16="http://schemas.microsoft.com/office/drawing/2014/main" id="{FC0FA3B1-AF74-4269-82C2-CF5E8AB4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3370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4288">
            <a:solidFill>
              <a:srgbClr val="BBCFE9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命中同一记录</a:t>
            </a:r>
          </a:p>
        </p:txBody>
      </p:sp>
      <p:sp>
        <p:nvSpPr>
          <p:cNvPr id="92" name="redesign-100">
            <a:extLst xmlns:a="http://schemas.openxmlformats.org/drawingml/2006/main">
              <a:ext uri="{FF2B5EF4-FFF2-40B4-BE49-F238E27FC236}">
                <a16:creationId xmlns:a16="http://schemas.microsoft.com/office/drawing/2014/main" id="{391AB939-FAE0-4C5B-B4E4-655B238E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1487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1463C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B1463C"/>
                </a:solidFill>
                <a:latin typeface="Heiti SC"/>
                <a:ea typeface="Heiti SC"/>
                <a:cs typeface="Heiti SC"/>
              </a:rPr>
              <a:t>修复前：UTC查询0条，+08:00查询1条。</a:t>
            </a:r>
          </a:p>
        </p:txBody>
      </p:sp>
      <p:sp>
        <p:nvSpPr>
          <p:cNvPr id="93" name="redesign-101">
            <a:extLst xmlns:a="http://schemas.openxmlformats.org/drawingml/2006/main">
              <a:ext uri="{FF2B5EF4-FFF2-40B4-BE49-F238E27FC236}">
                <a16:creationId xmlns:a16="http://schemas.microsoft.com/office/drawing/2014/main" id="{4FD342BE-9290-439E-A379-C118848D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97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87564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87564"/>
                </a:solidFill>
                <a:latin typeface="Heiti SC"/>
                <a:ea typeface="Heiti SC"/>
                <a:cs typeface="Heiti SC"/>
              </a:rPr>
              <a:t>修复后：两个查询均为1条，覆盖跨日偏移与更新时间。</a:t>
            </a:r>
          </a:p>
        </p:txBody>
      </p:sp>
      <p:sp>
        <p:nvSpPr>
          <p:cNvPr id="94" name="redesign-102">
            <a:extLst xmlns:a="http://schemas.openxmlformats.org/drawingml/2006/main">
              <a:ext uri="{FF2B5EF4-FFF2-40B4-BE49-F238E27FC236}">
                <a16:creationId xmlns:a16="http://schemas.microsoft.com/office/drawing/2014/main" id="{F8B46D87-1BEB-4847-8277-F3E6CF0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5785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5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UTCDateTime统一写入、参数绑定和读取；历史丢失的偏移无法自动恢复。</a:t>
            </a:r>
          </a:p>
        </p:txBody>
      </p:sp>
    </p:spTree>
    <p:extLst>
      <p:ext uri="{BB962C8B-B14F-4D97-AF65-F5344CB8AC3E}">
        <p14:creationId xmlns:p14="http://schemas.microsoft.com/office/powerpoint/2010/main" val="11764932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62879-C115-4CF5-85DF-D0E7E21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902970"/>
            <a:ext cx="6209030" cy="10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>
            <a:solidFill>
              <a:srgbClr val="0070C0"/>
            </a:solidFill>
          </a:ln>
        </p:spPr>
      </p:sp>
      <p:cxnSp>
        <p:nvCxnSpPr>
          <p:cNvPr id="90" name="Line 3"/>
          <p:cNvCxnSpPr/>
          <p:nvPr/>
        </p:nvCxnSpPr>
        <p:spPr>
          <a:xfrm xmlns:a="http://schemas.openxmlformats.org/drawingml/2006/main">
            <a:off x="815340" y="902970"/>
            <a:ext cx="10610850" cy="0"/>
          </a:xfrm>
          <a:prstGeom xmlns:a="http://schemas.openxmlformats.org/drawingml/2006/main" prst="straightConnector1">
            <a:avLst/>
          </a:prstGeom>
          <a:ln xmlns:a="http://schemas.openxmlformats.org/drawingml/2006/main" w="13546">
            <a:solidFill>
              <a:srgbClr val="0070C0"/>
            </a:solidFill>
          </a:ln>
        </p:spPr>
      </p:cxnSp>
      <p:sp>
        <p:nvSpPr>
          <p:cNvPr id="5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87854E-F01F-4AF8-AEAC-E03B771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" y="5967730"/>
            <a:ext cx="10179050" cy="6019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solidFill>
              <a:srgbClr val="D9D9D9"/>
            </a:solidFill>
          </a:ln>
        </p:spPr>
      </p:sp>
      <p:sp>
        <p:nvSpPr>
          <p:cNvPr id="6" name="矩形 93">
            <a:extLst xmlns:a="http://schemas.openxmlformats.org/drawingml/2006/main">
              <a:ext uri="{FF2B5EF4-FFF2-40B4-BE49-F238E27FC236}">
                <a16:creationId xmlns:a16="http://schemas.microsoft.com/office/drawing/2014/main" id="{CB23AD9A-F809-4AB4-8E97-5F35599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836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7" name="矩形 93-2">
            <a:extLst xmlns:a="http://schemas.openxmlformats.org/drawingml/2006/main">
              <a:ext uri="{FF2B5EF4-FFF2-40B4-BE49-F238E27FC236}">
                <a16:creationId xmlns:a16="http://schemas.microsoft.com/office/drawing/2014/main" id="{A1C4BA7B-2A16-499C-9320-93D91D1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98200" y="634238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1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C515D-92B5-45B9-8F11-6AA36F5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64ECBB-2A05-42CF-ADE7-6C35D65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8EA95D-C5D2-490B-9C48-BD2539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97066-DCEB-446E-BBF8-4EACCD0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F326D8-4702-49E4-BAA5-46E48CE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F0CE849-FC5F-4CF1-9224-282B65F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9605D9-58CB-4781-B463-D1577D5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8D89FF-B864-44F7-AA74-A4E6897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E45F801-297F-4147-B3C2-F26DD3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1675BB2-8622-4423-A3B7-5711CED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23ADDAB-683A-47F1-8589-3C9D216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9AC41DE-2DFC-4C03-B709-B59D276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44BEC1-F352-4A9D-8C65-08762DD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500711-0474-4C40-B442-F30EED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108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cb96f9ef14e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redesign-25">
            <a:extLst xmlns:a="http://schemas.openxmlformats.org/drawingml/2006/main">
              <a:ext uri="{FF2B5EF4-FFF2-40B4-BE49-F238E27FC236}">
                <a16:creationId xmlns:a16="http://schemas.microsoft.com/office/drawing/2014/main" id="{D456E7E5-BEB0-4531-B972-E8F84BC8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857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修复验证与质量结论</a:t>
            </a:r>
          </a:p>
        </p:txBody>
      </p:sp>
      <p:sp>
        <p:nvSpPr>
          <p:cNvPr id="82" name="redesign-26">
            <a:extLst xmlns:a="http://schemas.openxmlformats.org/drawingml/2006/main">
              <a:ext uri="{FF2B5EF4-FFF2-40B4-BE49-F238E27FC236}">
                <a16:creationId xmlns:a16="http://schemas.microsoft.com/office/drawing/2014/main" id="{AFAF10F6-E8D1-4181-BE70-24720D8E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0293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5C4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0075C4"/>
                </a:solidFill>
                <a:latin typeface="Heiti SC"/>
                <a:ea typeface="Heiti SC"/>
                <a:cs typeface="Heiti SC"/>
              </a:rPr>
              <a:t>选定范围验证通过，结论保留历史数据与兼容性限制</a:t>
            </a:r>
          </a:p>
        </p:txBody>
      </p:sp>
      <p:sp>
        <p:nvSpPr>
          <p:cNvPr id="83" name="redesign-27">
            <a:extLst xmlns:a="http://schemas.openxmlformats.org/drawingml/2006/main">
              <a:ext uri="{FF2B5EF4-FFF2-40B4-BE49-F238E27FC236}">
                <a16:creationId xmlns:a16="http://schemas.microsoft.com/office/drawing/2014/main" id="{DEAFC9E7-7C3C-4482-869B-E70D1EF0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9</a:t>
            </a:r>
          </a:p>
        </p:txBody>
      </p:sp>
      <p:sp>
        <p:nvSpPr>
          <p:cNvPr id="84" name="redesign-103">
            <a:extLst xmlns:a="http://schemas.openxmlformats.org/drawingml/2006/main">
              <a:ext uri="{FF2B5EF4-FFF2-40B4-BE49-F238E27FC236}">
                <a16:creationId xmlns:a16="http://schemas.microsoft.com/office/drawing/2014/main" id="{36BDD840-300C-4C35-BD38-4FED8CE2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668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420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选定范围验证通过</a:t>
            </a:r>
          </a:p>
        </p:txBody>
      </p:sp>
      <p:sp>
        <p:nvSpPr>
          <p:cNvPr id="85" name="redesign-104">
            <a:extLst xmlns:a="http://schemas.openxmlformats.org/drawingml/2006/main">
              <a:ext uri="{FF2B5EF4-FFF2-40B4-BE49-F238E27FC236}">
                <a16:creationId xmlns:a16="http://schemas.microsoft.com/office/drawing/2014/main" id="{FD369645-1CB2-4579-8F3A-0B429F9C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962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87564"/>
                </a:solidFill>
                <a:latin typeface="Heiti SC"/>
                <a:ea typeface="Heiti SC"/>
                <a:cs typeface="Heiti SC"/>
              </a:defRPr>
            </a:pPr>
            <a:r>
              <a:rPr sz="3225" b="1">
                <a:solidFill>
                  <a:srgbClr val="287564"/>
                </a:solidFill>
                <a:latin typeface="Heiti SC"/>
                <a:ea typeface="Heiti SC"/>
                <a:cs typeface="Heiti SC"/>
              </a:rPr>
              <a:t>3 failed  →  3 passed</a:t>
            </a:r>
          </a:p>
        </p:txBody>
      </p:sp>
      <p:sp>
        <p:nvSpPr>
          <p:cNvPr id="86" name="redesign-105">
            <a:extLst xmlns:a="http://schemas.openxmlformats.org/drawingml/2006/main">
              <a:ext uri="{FF2B5EF4-FFF2-40B4-BE49-F238E27FC236}">
                <a16:creationId xmlns:a16="http://schemas.microsoft.com/office/drawing/2014/main" id="{C7A95E6D-C155-4413-9BB4-2E935375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9906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同一份缺陷专项断言：先复现失败，再验证修复。</a:t>
            </a:r>
          </a:p>
          <a:p xmlns:a="http://schemas.openxmlformats.org/drawingml/2006/main">
            <a:pPr algn="l">
              <a:defRPr sz="232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随后运行原30条用例，结果全部通过。</a:t>
            </a:r>
          </a:p>
        </p:txBody>
      </p:sp>
      <p:sp>
        <p:nvSpPr>
          <p:cNvPr id="87" name="redesign-106">
            <a:extLst xmlns:a="http://schemas.openxmlformats.org/drawingml/2006/main">
              <a:ext uri="{FF2B5EF4-FFF2-40B4-BE49-F238E27FC236}">
                <a16:creationId xmlns:a16="http://schemas.microsoft.com/office/drawing/2014/main" id="{C2E45380-982F-44E5-AD8A-539B81DD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仍需注意</a:t>
            </a:r>
          </a:p>
        </p:txBody>
      </p:sp>
      <p:sp>
        <p:nvSpPr>
          <p:cNvPr id="88" name="redesign-107">
            <a:extLst xmlns:a="http://schemas.openxmlformats.org/drawingml/2006/main">
              <a:ext uri="{FF2B5EF4-FFF2-40B4-BE49-F238E27FC236}">
                <a16:creationId xmlns:a16="http://schemas.microsoft.com/office/drawing/2014/main" id="{077F4BDB-DDB3-4F6F-8456-37661CDE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990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旧长密码重置与历史时区数据校正尚未执行。</a:t>
            </a:r>
          </a:p>
          <a:p xmlns:a="http://schemas.openxmlformats.org/drawingml/2006/main">
            <a:pPr algn="l">
              <a:defRPr sz="18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本轮未开展全项目回归，也未测量覆盖率。</a:t>
            </a:r>
          </a:p>
        </p:txBody>
      </p:sp>
    </p:spTree>
    <p:extLst>
      <p:ext uri="{BB962C8B-B14F-4D97-AF65-F5344CB8AC3E}">
        <p14:creationId xmlns:p14="http://schemas.microsoft.com/office/powerpoint/2010/main" val="11764932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62879-C115-4CF5-85DF-D0E7E21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" y="902970"/>
            <a:ext cx="6209030" cy="10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12700">
            <a:solidFill>
              <a:srgbClr val="0070C0"/>
            </a:solidFill>
          </a:ln>
        </p:spPr>
      </p:sp>
      <p:cxnSp>
        <p:nvCxnSpPr>
          <p:cNvPr id="93" name="Line 3"/>
          <p:cNvCxnSpPr/>
          <p:nvPr/>
        </p:nvCxnSpPr>
        <p:spPr>
          <a:xfrm xmlns:a="http://schemas.openxmlformats.org/drawingml/2006/main">
            <a:off x="815340" y="902970"/>
            <a:ext cx="10610850" cy="0"/>
          </a:xfrm>
          <a:prstGeom xmlns:a="http://schemas.openxmlformats.org/drawingml/2006/main" prst="straightConnector1">
            <a:avLst/>
          </a:prstGeom>
          <a:ln xmlns:a="http://schemas.openxmlformats.org/drawingml/2006/main" w="13546">
            <a:solidFill>
              <a:srgbClr val="0070C0"/>
            </a:solidFill>
          </a:ln>
        </p:spPr>
      </p:cxnSp>
      <p:sp>
        <p:nvSpPr>
          <p:cNvPr id="5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487854E-F01F-4AF8-AEAC-E03B771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80" y="5967730"/>
            <a:ext cx="10179050" cy="60198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solidFill>
              <a:srgbClr val="D9D9D9"/>
            </a:solidFill>
          </a:ln>
        </p:spPr>
      </p:sp>
      <p:sp>
        <p:nvSpPr>
          <p:cNvPr id="6" name="矩形 93">
            <a:extLst xmlns:a="http://schemas.openxmlformats.org/drawingml/2006/main">
              <a:ext uri="{FF2B5EF4-FFF2-40B4-BE49-F238E27FC236}">
                <a16:creationId xmlns:a16="http://schemas.microsoft.com/office/drawing/2014/main" id="{CB23AD9A-F809-4AB4-8E97-5F35599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836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7" name="矩形 93-2">
            <a:extLst xmlns:a="http://schemas.openxmlformats.org/drawingml/2006/main">
              <a:ext uri="{FF2B5EF4-FFF2-40B4-BE49-F238E27FC236}">
                <a16:creationId xmlns:a16="http://schemas.microsoft.com/office/drawing/2014/main" id="{A1C4BA7B-2A16-499C-9320-93D91D1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98200" y="6342380"/>
            <a:ext cx="355600" cy="288290"/>
          </a:xfrm>
          <a:custGeom xmlns:a="http://schemas.openxmlformats.org/drawingml/2006/main"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 xmlns:a="http://schemas.openxmlformats.org/drawingml/2006/main">
            <a:srgbClr val="1D4999"/>
          </a:solidFill>
          <a:ln xmlns:a="http://schemas.openxmlformats.org/drawingml/2006/main">
            <a:noFill/>
          </a:ln>
        </p:spPr>
      </p:sp>
      <p:sp>
        <p:nvSpPr>
          <p:cNvPr id="10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C515D-92B5-45B9-8F11-6AA36F5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467360"/>
            <a:ext cx="18034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1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64ECBB-2A05-42CF-ADE7-6C35D65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820" y="238760"/>
            <a:ext cx="400050" cy="256540"/>
          </a:xfrm>
          <a:custGeom xmlns:a="http://schemas.openxmlformats.org/drawingml/2006/main"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A8EA95D-C5D2-490B-9C48-BD25396C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8760"/>
            <a:ext cx="326390" cy="256540"/>
          </a:xfrm>
          <a:custGeom xmlns:a="http://schemas.openxmlformats.org/drawingml/2006/main"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3297066-DCEB-446E-BBF8-4EACCD03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30" y="157480"/>
            <a:ext cx="568960" cy="412750"/>
          </a:xfrm>
          <a:custGeom xmlns:a="http://schemas.openxmlformats.org/drawingml/2006/main"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F326D8-4702-49E4-BAA5-46E48CE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47040"/>
            <a:ext cx="107950" cy="17780"/>
          </a:xfrm>
          <a:custGeom xmlns:a="http://schemas.openxmlformats.org/drawingml/2006/main"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5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F0CE849-FC5F-4CF1-9224-282B65F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890" y="411480"/>
            <a:ext cx="297180" cy="30480"/>
          </a:xfrm>
          <a:custGeom xmlns:a="http://schemas.openxmlformats.org/drawingml/2006/main"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29605D9-58CB-4781-B463-D1577D5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0" y="260350"/>
            <a:ext cx="182880" cy="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17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8D89FF-B864-44F7-AA74-A4E6897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870" y="177800"/>
            <a:ext cx="358140" cy="91440"/>
          </a:xfrm>
          <a:custGeom xmlns:a="http://schemas.openxmlformats.org/drawingml/2006/main"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18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E45F801-297F-4147-B3C2-F26DD3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257810"/>
            <a:ext cx="519430" cy="294640"/>
          </a:xfrm>
          <a:custGeom xmlns:a="http://schemas.openxmlformats.org/drawingml/2006/main"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 xmlns:a="http://schemas.openxmlformats.org/drawingml/2006/main">
            <a:srgbClr val="24211D"/>
          </a:solidFill>
          <a:ln xmlns:a="http://schemas.openxmlformats.org/drawingml/2006/main">
            <a:noFill/>
          </a:ln>
        </p:spPr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1675BB2-8622-4423-A3B7-5711CED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7970"/>
            <a:ext cx="220980" cy="125730"/>
          </a:xfrm>
          <a:custGeom xmlns:a="http://schemas.openxmlformats.org/drawingml/2006/main"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23ADDAB-683A-47F1-8589-3C9D216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1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9AC41DE-2DFC-4C03-B709-B59D276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339090"/>
            <a:ext cx="50800" cy="41910"/>
          </a:xfrm>
          <a:custGeom xmlns:a="http://schemas.openxmlformats.org/drawingml/2006/main"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 xmlns:a="http://schemas.openxmlformats.org/drawingml/2006/main">
            <a:srgbClr val="005A9F"/>
          </a:solidFill>
          <a:ln xmlns:a="http://schemas.openxmlformats.org/drawingml/2006/main">
            <a:noFill/>
          </a:ln>
        </p:spPr>
      </p:sp>
      <p:sp>
        <p:nvSpPr>
          <p:cNvPr id="22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44BEC1-F352-4A9D-8C65-08762DD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860" y="152400"/>
            <a:ext cx="1607820" cy="325120"/>
          </a:xfrm>
          <a:custGeom xmlns:a="http://schemas.openxmlformats.org/drawingml/2006/main"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2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B500711-0474-4C40-B442-F30EED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520700"/>
            <a:ext cx="1549400" cy="49530"/>
          </a:xfrm>
          <a:custGeom xmlns:a="http://schemas.openxmlformats.org/drawingml/2006/main"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111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9f43ec7394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24460"/>
            <a:ext cx="627380" cy="4711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redesign-28">
            <a:extLst xmlns:a="http://schemas.openxmlformats.org/drawingml/2006/main">
              <a:ext uri="{FF2B5EF4-FFF2-40B4-BE49-F238E27FC236}">
                <a16:creationId xmlns:a16="http://schemas.microsoft.com/office/drawing/2014/main" id="{B1C0A89A-CC17-4A2B-AECB-6B4BE81C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"/>
            <a:ext cx="8572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775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成员分工与现场演示</a:t>
            </a:r>
          </a:p>
        </p:txBody>
      </p:sp>
      <p:sp>
        <p:nvSpPr>
          <p:cNvPr id="82" name="redesign-29">
            <a:extLst xmlns:a="http://schemas.openxmlformats.org/drawingml/2006/main">
              <a:ext uri="{FF2B5EF4-FFF2-40B4-BE49-F238E27FC236}">
                <a16:creationId xmlns:a16="http://schemas.microsoft.com/office/drawing/2014/main" id="{914D2439-07EE-4CE2-A9B0-7B8E9F53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02932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5C4"/>
                </a:solidFill>
                <a:latin typeface="Heiti SC"/>
                <a:ea typeface="Heiti SC"/>
                <a:cs typeface="Heiti SC"/>
              </a:defRPr>
            </a:pPr>
            <a:r>
              <a:rPr sz="1875" b="1">
                <a:solidFill>
                  <a:srgbClr val="0075C4"/>
                </a:solidFill>
                <a:latin typeface="Heiti SC"/>
                <a:ea typeface="Heiti SC"/>
                <a:cs typeface="Heiti SC"/>
              </a:rPr>
              <a:t>按实际分工复核，并分别保留本人提交记录</a:t>
            </a:r>
          </a:p>
        </p:txBody>
      </p:sp>
      <p:sp>
        <p:nvSpPr>
          <p:cNvPr id="83" name="redesign-30">
            <a:extLst xmlns:a="http://schemas.openxmlformats.org/drawingml/2006/main">
              <a:ext uri="{FF2B5EF4-FFF2-40B4-BE49-F238E27FC236}">
                <a16:creationId xmlns:a16="http://schemas.microsoft.com/office/drawing/2014/main" id="{E27EBB09-1C9D-440C-AA8B-FEB75C11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10</a:t>
            </a:r>
          </a:p>
        </p:txBody>
      </p:sp>
      <p:sp>
        <p:nvSpPr>
          <p:cNvPr id="84" name="redesign-108">
            <a:extLst xmlns:a="http://schemas.openxmlformats.org/drawingml/2006/main">
              <a:ext uri="{FF2B5EF4-FFF2-40B4-BE49-F238E27FC236}">
                <a16:creationId xmlns:a16="http://schemas.microsoft.com/office/drawing/2014/main" id="{DB4C0EF3-39BC-4A98-8481-94111F0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9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袁立沛  50%</a:t>
            </a:r>
          </a:p>
        </p:txBody>
      </p:sp>
      <p:sp>
        <p:nvSpPr>
          <p:cNvPr id="85" name="redesign-109">
            <a:extLst xmlns:a="http://schemas.openxmlformats.org/drawingml/2006/main">
              <a:ext uri="{FF2B5EF4-FFF2-40B4-BE49-F238E27FC236}">
                <a16:creationId xmlns:a16="http://schemas.microsoft.com/office/drawing/2014/main" id="{268FCB95-29D0-4F38-9D61-4DA39BEE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811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925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陆京超  50%</a:t>
            </a:r>
          </a:p>
        </p:txBody>
      </p:sp>
      <p:sp>
        <p:nvSpPr>
          <p:cNvPr id="86" name="redesign-110">
            <a:extLst xmlns:a="http://schemas.openxmlformats.org/drawingml/2006/main">
              <a:ext uri="{FF2B5EF4-FFF2-40B4-BE49-F238E27FC236}">
                <a16:creationId xmlns:a16="http://schemas.microsoft.com/office/drawing/2014/main" id="{734BCC1E-8105-4DE4-88F6-B1168E5A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9800"/>
            <a:ext cx="5095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M202677260 · 第一次提交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TC-016至TC-030，共15条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D02；D03复现与回归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报告3、5章及缺陷清单</a:t>
            </a:r>
          </a:p>
        </p:txBody>
      </p:sp>
      <p:sp>
        <p:nvSpPr>
          <p:cNvPr id="87" name="redesign-111">
            <a:extLst xmlns:a="http://schemas.openxmlformats.org/drawingml/2006/main">
              <a:ext uri="{FF2B5EF4-FFF2-40B4-BE49-F238E27FC236}">
                <a16:creationId xmlns:a16="http://schemas.microsoft.com/office/drawing/2014/main" id="{31513CFB-8DDB-4E27-B67A-1AB40F5C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5095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M202677236 · 第二次提交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TC-001至TC-015，共15条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D01；D03根因与修复方案</a:t>
            </a:r>
          </a:p>
          <a:p xmlns:a="http://schemas.openxmlformats.org/drawingml/2006/main">
            <a:pPr algn="l">
              <a:defRPr sz="2100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报告1、2、4章及材料整合</a:t>
            </a:r>
          </a:p>
        </p:txBody>
      </p:sp>
      <p:sp>
        <p:nvSpPr>
          <p:cNvPr id="88" name="redesign-112">
            <a:extLst xmlns:a="http://schemas.openxmlformats.org/drawingml/2006/main">
              <a:ext uri="{FF2B5EF4-FFF2-40B4-BE49-F238E27FC236}">
                <a16:creationId xmlns:a16="http://schemas.microsoft.com/office/drawing/2014/main" id="{72B1B823-4A1E-41FC-B7BA-D549F956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529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7564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287564"/>
                </a:solidFill>
                <a:latin typeface="Heiti SC"/>
                <a:ea typeface="Heiti SC"/>
                <a:cs typeface="Heiti SC"/>
              </a:rPr>
              <a:t>9月13日已完成分配工作</a:t>
            </a:r>
          </a:p>
        </p:txBody>
      </p:sp>
      <p:sp>
        <p:nvSpPr>
          <p:cNvPr id="89" name="redesign-113">
            <a:extLst xmlns:a="http://schemas.openxmlformats.org/drawingml/2006/main">
              <a:ext uri="{FF2B5EF4-FFF2-40B4-BE49-F238E27FC236}">
                <a16:creationId xmlns:a16="http://schemas.microsoft.com/office/drawing/2014/main" id="{83CD037C-17BD-45F0-A384-33C4FE2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529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6677E"/>
                </a:solidFill>
                <a:latin typeface="Heiti SC"/>
                <a:ea typeface="Heiti SC"/>
                <a:cs typeface="Heiti SC"/>
              </a:defRPr>
            </a:pPr>
            <a:r>
              <a:rPr sz="1950" b="1">
                <a:solidFill>
                  <a:srgbClr val="56677E"/>
                </a:solidFill>
                <a:latin typeface="Heiti SC"/>
                <a:ea typeface="Heiti SC"/>
                <a:cs typeface="Heiti SC"/>
              </a:rPr>
              <a:t>9月14日计划完成</a:t>
            </a:r>
          </a:p>
        </p:txBody>
      </p:sp>
      <p:sp>
        <p:nvSpPr>
          <p:cNvPr id="90" name="redesign-114">
            <a:extLst xmlns:a="http://schemas.openxmlformats.org/drawingml/2006/main">
              <a:ext uri="{FF2B5EF4-FFF2-40B4-BE49-F238E27FC236}">
                <a16:creationId xmlns:a16="http://schemas.microsoft.com/office/drawing/2014/main" id="{D6E876B8-49C1-4500-A4E3-20770EE8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053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2A2"/>
                </a:solidFill>
                <a:latin typeface="Heiti SC"/>
                <a:ea typeface="Heiti SC"/>
                <a:cs typeface="Heiti SC"/>
              </a:defRPr>
            </a:pPr>
            <a:r>
              <a:rPr sz="2100" b="1">
                <a:solidFill>
                  <a:srgbClr val="2452A2"/>
                </a:solidFill>
                <a:latin typeface="Heiti SC"/>
                <a:ea typeface="Heiti SC"/>
                <a:cs typeface="Heiti SC"/>
              </a:rPr>
              <a:t>演示顺序</a:t>
            </a:r>
          </a:p>
        </p:txBody>
      </p:sp>
      <p:sp>
        <p:nvSpPr>
          <p:cNvPr id="91" name="redesign-115">
            <a:extLst xmlns:a="http://schemas.openxmlformats.org/drawingml/2006/main">
              <a:ext uri="{FF2B5EF4-FFF2-40B4-BE49-F238E27FC236}">
                <a16:creationId xmlns:a16="http://schemas.microsoft.com/office/drawing/2014/main" id="{E0A0A8ED-E847-4FCB-913A-D16FDF2B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B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02B3B"/>
                </a:solidFill>
                <a:latin typeface="Heiti SC"/>
                <a:ea typeface="Heiti SC"/>
                <a:cs typeface="Heiti SC"/>
              </a:rPr>
              <a:t>注册登录  →  新增并查询血压记录  →  执行测试  →  展示证据</a:t>
            </a:r>
          </a:p>
        </p:txBody>
      </p:sp>
    </p:spTree>
    <p:extLst>
      <p:ext uri="{BB962C8B-B14F-4D97-AF65-F5344CB8AC3E}">
        <p14:creationId xmlns:p14="http://schemas.microsoft.com/office/powerpoint/2010/main" val="1176493272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2026-09-13T14:58:28.4440000Z</dcterms:created>
  <dcterms:modified xsi:type="dcterms:W3CDTF">2026-09-13T14:58:28.4440000Z</dcterms:modified>
</coreProperties>
</file>